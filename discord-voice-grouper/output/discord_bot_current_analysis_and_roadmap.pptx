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e7caf0275146cf" /><Relationship Type="http://schemas.openxmlformats.org/officeDocument/2006/relationships/extended-properties" Target="/docProps/app.xml" Id="Re4ea3355edc84c3a" /><Relationship Type="http://schemas.openxmlformats.org/officeDocument/2006/relationships/officeDocument" Target="/ppt/presentation.xml" Id="R66869838033a42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3af307a1c949d2"/>
  </p:sldMasterIdLst>
  <p:notesMasterIdLst>
    <p:notesMasterId xmlns:r="http://schemas.openxmlformats.org/officeDocument/2006/relationships" r:id="R79b00957e2094a9c"/>
  </p:notesMasterIdLst>
  <p:sldIdLst>
    <p:sldId xmlns:r="http://schemas.openxmlformats.org/officeDocument/2006/relationships" id="256" r:id="Rd6c35ffb818744a6"/>
    <p:sldId xmlns:r="http://schemas.openxmlformats.org/officeDocument/2006/relationships" id="257" r:id="R7b024467a5104865"/>
    <p:sldId xmlns:r="http://schemas.openxmlformats.org/officeDocument/2006/relationships" id="258" r:id="R878432b00d834407"/>
    <p:sldId xmlns:r="http://schemas.openxmlformats.org/officeDocument/2006/relationships" id="259" r:id="Re11d7d1b12ce46aa"/>
    <p:sldId xmlns:r="http://schemas.openxmlformats.org/officeDocument/2006/relationships" id="260" r:id="R192df24a12f6462c"/>
    <p:sldId xmlns:r="http://schemas.openxmlformats.org/officeDocument/2006/relationships" id="261" r:id="R7d05ba0e91ea4dc7"/>
    <p:sldId xmlns:r="http://schemas.openxmlformats.org/officeDocument/2006/relationships" id="262" r:id="R1063861279b24b72"/>
    <p:sldId xmlns:r="http://schemas.openxmlformats.org/officeDocument/2006/relationships" id="263" r:id="Rf417c6d7110f4759"/>
    <p:sldId xmlns:r="http://schemas.openxmlformats.org/officeDocument/2006/relationships" id="264" r:id="R693423f864ec49a0"/>
    <p:sldId xmlns:r="http://schemas.openxmlformats.org/officeDocument/2006/relationships" id="265" r:id="R62a21c58b2ef431f"/>
    <p:sldId xmlns:r="http://schemas.openxmlformats.org/officeDocument/2006/relationships" id="266" r:id="R1fddf1081bd14281"/>
    <p:sldId xmlns:r="http://schemas.openxmlformats.org/officeDocument/2006/relationships" id="267" r:id="R212faaebd545413e"/>
    <p:sldId xmlns:r="http://schemas.openxmlformats.org/officeDocument/2006/relationships" id="268" r:id="R86a7d89a60f14e0a"/>
    <p:sldId xmlns:r="http://schemas.openxmlformats.org/officeDocument/2006/relationships" id="269" r:id="Rf234f82a5f7a48a8"/>
    <p:sldId xmlns:r="http://schemas.openxmlformats.org/officeDocument/2006/relationships" id="270" r:id="Reb45a37d609b4c9e"/>
    <p:sldId xmlns:r="http://schemas.openxmlformats.org/officeDocument/2006/relationships" id="271" r:id="Rddf819b853f148ec"/>
    <p:sldId xmlns:r="http://schemas.openxmlformats.org/officeDocument/2006/relationships" id="272" r:id="R68b0fff878b94a41"/>
    <p:sldId xmlns:r="http://schemas.openxmlformats.org/officeDocument/2006/relationships" id="273" r:id="Rddc7b5f6ca8e4a03"/>
    <p:sldId xmlns:r="http://schemas.openxmlformats.org/officeDocument/2006/relationships" id="274" r:id="R70ead16523284e4c"/>
    <p:sldId xmlns:r="http://schemas.openxmlformats.org/officeDocument/2006/relationships" id="275" r:id="R41871b32ac7948f4"/>
    <p:sldId xmlns:r="http://schemas.openxmlformats.org/officeDocument/2006/relationships" id="276" r:id="Rd51a8b15725d4307"/>
    <p:sldId xmlns:r="http://schemas.openxmlformats.org/officeDocument/2006/relationships" id="277" r:id="R098dcdaca7ad44a2"/>
    <p:sldId xmlns:r="http://schemas.openxmlformats.org/officeDocument/2006/relationships" id="278" r:id="R49864667d5734dbd"/>
    <p:sldId xmlns:r="http://schemas.openxmlformats.org/officeDocument/2006/relationships" id="279" r:id="R45e6ee5c6aa545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72e7ab34254277" /><Relationship Type="http://schemas.openxmlformats.org/officeDocument/2006/relationships/slideMaster" Target="/ppt/slideMasters/slideMaster1.xml" Id="R2a3af307a1c949d2" /><Relationship Type="http://schemas.openxmlformats.org/officeDocument/2006/relationships/notesMaster" Target="/ppt/notesMasters/notesMaster1.xml" Id="R79b00957e2094a9c" /><Relationship Type="http://schemas.openxmlformats.org/officeDocument/2006/relationships/presProps" Target="/ppt/presProps.xml" Id="Rea8c58dacaba4c67" /><Relationship Type="http://schemas.openxmlformats.org/officeDocument/2006/relationships/tableStyles" Target="/ppt/tableStyles.xml" Id="Rf2d24b31fa624b8e" /><Relationship Type="http://schemas.openxmlformats.org/officeDocument/2006/relationships/slide" Target="/ppt/slides/slide1.xml" Id="Rd6c35ffb818744a6" /><Relationship Type="http://schemas.openxmlformats.org/officeDocument/2006/relationships/slide" Target="/ppt/slides/slide2.xml" Id="R7b024467a5104865" /><Relationship Type="http://schemas.openxmlformats.org/officeDocument/2006/relationships/slide" Target="/ppt/slides/slide3.xml" Id="R878432b00d834407" /><Relationship Type="http://schemas.openxmlformats.org/officeDocument/2006/relationships/slide" Target="/ppt/slides/slide4.xml" Id="Re11d7d1b12ce46aa" /><Relationship Type="http://schemas.openxmlformats.org/officeDocument/2006/relationships/slide" Target="/ppt/slides/slide5.xml" Id="R192df24a12f6462c" /><Relationship Type="http://schemas.openxmlformats.org/officeDocument/2006/relationships/slide" Target="/ppt/slides/slide6.xml" Id="R7d05ba0e91ea4dc7" /><Relationship Type="http://schemas.openxmlformats.org/officeDocument/2006/relationships/slide" Target="/ppt/slides/slide7.xml" Id="R1063861279b24b72" /><Relationship Type="http://schemas.openxmlformats.org/officeDocument/2006/relationships/slide" Target="/ppt/slides/slide8.xml" Id="Rf417c6d7110f4759" /><Relationship Type="http://schemas.openxmlformats.org/officeDocument/2006/relationships/slide" Target="/ppt/slides/slide9.xml" Id="R693423f864ec49a0" /><Relationship Type="http://schemas.openxmlformats.org/officeDocument/2006/relationships/slide" Target="/ppt/slides/slide10.xml" Id="R62a21c58b2ef431f" /><Relationship Type="http://schemas.openxmlformats.org/officeDocument/2006/relationships/slide" Target="/ppt/slides/slide11.xml" Id="R1fddf1081bd14281" /><Relationship Type="http://schemas.openxmlformats.org/officeDocument/2006/relationships/slide" Target="/ppt/slides/slide12.xml" Id="R212faaebd545413e" /><Relationship Type="http://schemas.openxmlformats.org/officeDocument/2006/relationships/slide" Target="/ppt/slides/slide13.xml" Id="R86a7d89a60f14e0a" /><Relationship Type="http://schemas.openxmlformats.org/officeDocument/2006/relationships/slide" Target="/ppt/slides/slide14.xml" Id="Rf234f82a5f7a48a8" /><Relationship Type="http://schemas.openxmlformats.org/officeDocument/2006/relationships/slide" Target="/ppt/slides/slide15.xml" Id="Reb45a37d609b4c9e" /><Relationship Type="http://schemas.openxmlformats.org/officeDocument/2006/relationships/slide" Target="/ppt/slides/slide16.xml" Id="Rddf819b853f148ec" /><Relationship Type="http://schemas.openxmlformats.org/officeDocument/2006/relationships/slide" Target="/ppt/slides/slide17.xml" Id="R68b0fff878b94a41" /><Relationship Type="http://schemas.openxmlformats.org/officeDocument/2006/relationships/slide" Target="/ppt/slides/slide18.xml" Id="Rddc7b5f6ca8e4a03" /><Relationship Type="http://schemas.openxmlformats.org/officeDocument/2006/relationships/slide" Target="/ppt/slides/slide19.xml" Id="R70ead16523284e4c" /><Relationship Type="http://schemas.openxmlformats.org/officeDocument/2006/relationships/slide" Target="/ppt/slides/slide20.xml" Id="R41871b32ac7948f4" /><Relationship Type="http://schemas.openxmlformats.org/officeDocument/2006/relationships/slide" Target="/ppt/slides/slide21.xml" Id="Rd51a8b15725d4307" /><Relationship Type="http://schemas.openxmlformats.org/officeDocument/2006/relationships/slide" Target="/ppt/slides/slide22.xml" Id="R098dcdaca7ad44a2" /><Relationship Type="http://schemas.openxmlformats.org/officeDocument/2006/relationships/slide" Target="/ppt/slides/slide23.xml" Id="R49864667d5734dbd" /><Relationship Type="http://schemas.openxmlformats.org/officeDocument/2006/relationships/slide" Target="/ppt/slides/slide24.xml" Id="R45e6ee5c6aa5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0d83248b24d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427b70b47c4096" /><Relationship Type="http://schemas.openxmlformats.org/officeDocument/2006/relationships/notesMaster" Target="/ppt/notesMasters/notesMaster1.xml" Id="R77e30c132f57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c3113e8ffb40ef" /><Relationship Type="http://schemas.openxmlformats.org/officeDocument/2006/relationships/notesMaster" Target="/ppt/notesMasters/notesMaster1.xml" Id="R51579d3398354b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d02f23c2d14d34" /><Relationship Type="http://schemas.openxmlformats.org/officeDocument/2006/relationships/notesMaster" Target="/ppt/notesMasters/notesMaster1.xml" Id="R802c7c5dda754f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e99ec581384903" /><Relationship Type="http://schemas.openxmlformats.org/officeDocument/2006/relationships/notesMaster" Target="/ppt/notesMasters/notesMaster1.xml" Id="R0dea0702d2934a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83153d455f4b83" /><Relationship Type="http://schemas.openxmlformats.org/officeDocument/2006/relationships/notesMaster" Target="/ppt/notesMasters/notesMaster1.xml" Id="R6f61189ef66f4f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0e2fd96bcc499e" /><Relationship Type="http://schemas.openxmlformats.org/officeDocument/2006/relationships/notesMaster" Target="/ppt/notesMasters/notesMaster1.xml" Id="R683e37ec3859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aa5012cebd4f64" /><Relationship Type="http://schemas.openxmlformats.org/officeDocument/2006/relationships/notesMaster" Target="/ppt/notesMasters/notesMaster1.xml" Id="R39862b56c1024c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b4c97a070641db" /><Relationship Type="http://schemas.openxmlformats.org/officeDocument/2006/relationships/notesMaster" Target="/ppt/notesMasters/notesMaster1.xml" Id="Rd7f1b380d0b14a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55239a72d341f8" /><Relationship Type="http://schemas.openxmlformats.org/officeDocument/2006/relationships/notesMaster" Target="/ppt/notesMasters/notesMaster1.xml" Id="R73f470836a684a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4d568cc6d94d14" /><Relationship Type="http://schemas.openxmlformats.org/officeDocument/2006/relationships/notesMaster" Target="/ppt/notesMasters/notesMaster1.xml" Id="R52fdf3c185c347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4c00349b014cc2" /><Relationship Type="http://schemas.openxmlformats.org/officeDocument/2006/relationships/notesMaster" Target="/ppt/notesMasters/notesMaster1.xml" Id="R5e9ad8a660c14d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c2c6d36c354ffe" /><Relationship Type="http://schemas.openxmlformats.org/officeDocument/2006/relationships/notesMaster" Target="/ppt/notesMasters/notesMaster1.xml" Id="Rd0ea784f170b4d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fff6a6d71a497c" /><Relationship Type="http://schemas.openxmlformats.org/officeDocument/2006/relationships/notesMaster" Target="/ppt/notesMasters/notesMaster1.xml" Id="R074250117b6848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2a89c4bf5842e5" /><Relationship Type="http://schemas.openxmlformats.org/officeDocument/2006/relationships/notesMaster" Target="/ppt/notesMasters/notesMaster1.xml" Id="R245ed109e39c42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e1216ba0c34e6d" /><Relationship Type="http://schemas.openxmlformats.org/officeDocument/2006/relationships/notesMaster" Target="/ppt/notesMasters/notesMaster1.xml" Id="Ref4de25fb680479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6aea59af9148e0" /><Relationship Type="http://schemas.openxmlformats.org/officeDocument/2006/relationships/notesMaster" Target="/ppt/notesMasters/notesMaster1.xml" Id="Rfc1eb8573d974f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36489bd59948fb" /><Relationship Type="http://schemas.openxmlformats.org/officeDocument/2006/relationships/notesMaster" Target="/ppt/notesMasters/notesMaster1.xml" Id="R79259d51edab43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4f2afe16fd44a5" /><Relationship Type="http://schemas.openxmlformats.org/officeDocument/2006/relationships/notesMaster" Target="/ppt/notesMasters/notesMaster1.xml" Id="R32eea5b06be44a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cbb2cd24a1492e" /><Relationship Type="http://schemas.openxmlformats.org/officeDocument/2006/relationships/notesMaster" Target="/ppt/notesMasters/notesMaster1.xml" Id="R1ef71f58498743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edb20e43bf42eb" /><Relationship Type="http://schemas.openxmlformats.org/officeDocument/2006/relationships/notesMaster" Target="/ppt/notesMasters/notesMaster1.xml" Id="R7d1aecdf503a4e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2b0547edd147ff" /><Relationship Type="http://schemas.openxmlformats.org/officeDocument/2006/relationships/notesMaster" Target="/ppt/notesMasters/notesMaster1.xml" Id="R30cb36d3954a4d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d8df837b3394f3b" /><Relationship Type="http://schemas.openxmlformats.org/officeDocument/2006/relationships/notesMaster" Target="/ppt/notesMasters/notesMaster1.xml" Id="R22da7112d62d46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dfd665b5a97432e" /><Relationship Type="http://schemas.openxmlformats.org/officeDocument/2006/relationships/notesMaster" Target="/ppt/notesMasters/notesMaster1.xml" Id="R54107ddf64c44d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aee524bba44026" /><Relationship Type="http://schemas.openxmlformats.org/officeDocument/2006/relationships/notesMaster" Target="/ppt/notesMasters/notesMaster1.xml" Id="R58b9d58af4c6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この資料は現行コードベースを基準にした技術・プロダクト分析です。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C:\Users\yonem\Documents\GitHub\discord-bot-source\discord-voice-grouper\README.md</a:t>
            </a:r>
          </a:p>
          <a:p xmlns:a="http://schemas.openxmlformats.org/drawingml/2006/main">
            <a:r>
              <a:t>- C:\Users\yonem\Documents\GitHub\discord-bot-source\discord-voice-grouper\src</a:t>
            </a:r>
          </a:p>
          <a:p xmlns:a="http://schemas.openxmlformats.org/drawingml/2006/main">
            <a:r>
              <a:t>- C:\Users\yonem\Documents\GitHub\discord-bot-source\discord-voice-grouper\test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C:\Users\yonem\Documents\GitHub\discord-bot-source\discord-voice-grouper\README.md</a:t>
            </a:r>
          </a:p>
          <a:p xmlns:a="http://schemas.openxmlformats.org/drawingml/2006/main">
            <a:r>
              <a:t>- C:\Users\yonem\Documents\GitHub\discord-bot-source\discord-voice-grouper\src\features</a:t>
            </a:r>
          </a:p>
          <a:p xmlns:a="http://schemas.openxmlformats.org/drawingml/2006/main">
            <a:r>
              <a:t>- C:\Users\yonem\Documents\GitHub\discord-bot-source\discord-voice-grouper\src\vc-dm-service.js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行数はPowerShellでsrc配下の.jsを集計。テストは2026-08-08にnpm testを実行し224件成功、npm run lintも成功。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</a:t>
            </a:r>
          </a:p>
          <a:p xmlns:a="http://schemas.openxmlformats.org/drawingml/2006/main">
            <a:r>
              <a:t>- C:\Users\yonem\Documents\GitHub\discord-bot-source\discord-voice-grouper\test</a:t>
            </a:r>
          </a:p>
          <a:p xmlns:a="http://schemas.openxmlformats.org/drawingml/2006/main">
            <a:r>
              <a:t>- C:\Users\yonem\Documents\GitHub\discord-bot-source\discord-voice-grouper\package.json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C:\Users\yonem\Documents\GitHub\discord-bot-source\discord-voice-grouper\src\bot.js</a:t>
            </a:r>
          </a:p>
          <a:p xmlns:a="http://schemas.openxmlformats.org/drawingml/2006/main">
            <a:r>
              <a:t>- C:\Users\yonem\Documents\GitHub\discord-bot-source\discord-voice-grouper\src\interaction-router.js</a:t>
            </a:r>
          </a:p>
          <a:p xmlns:a="http://schemas.openxmlformats.org/drawingml/2006/main">
            <a:r>
              <a:t>- C:\Users\yonem\Documents\GitHub\discord-bot-source\discord-voice-grouper\src\app\startup-coordinator.js</a:t>
            </a:r>
          </a:p>
          <a:p xmlns:a="http://schemas.openxmlformats.org/drawingml/2006/main">
            <a:r>
              <a:t>- C:\Users\yonem\Documents\GitHub\discord-bot-source\discord-voice-grouper\src\models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C:\Users\yonem\Documents\GitHub\discord-bot-source\discord-voice-grouper\README.md</a:t>
            </a:r>
          </a:p>
          <a:p xmlns:a="http://schemas.openxmlformats.org/drawingml/2006/main">
            <a:r>
              <a:t>- C:\Users\yonem\Documents\GitHub\discord-bot-source\discord-voice-grouper\src\features</a:t>
            </a:r>
          </a:p>
          <a:p xmlns:a="http://schemas.openxmlformats.org/drawingml/2006/main">
            <a:r>
              <a:t>- C:\Users\yonem\Documents\GitHub\discord-bot-source\discord-voice-grouper\src\vc-dm-service.js</a:t>
            </a:r>
          </a:p>
          <a:p xmlns:a="http://schemas.openxmlformats.org/drawingml/2006/main">
            <a:r>
              <a:t>- C:\Users\yonem\Documents\GitHub\discord-bot-source\discord-voice-grouper\src\operational-status-service.js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C:\Users\yonem\Documents\GitHub\discord-bot-source\discord-voice-grouper\src\grouping.js</a:t>
            </a:r>
          </a:p>
          <a:p xmlns:a="http://schemas.openxmlformats.org/drawingml/2006/main">
            <a:r>
              <a:t>- C:\Users\yonem\Documents\GitHub\discord-bot-source\discord-voice-grouper\src\features\voice-split.js</a:t>
            </a:r>
          </a:p>
          <a:p xmlns:a="http://schemas.openxmlformats.org/drawingml/2006/main">
            <a:r>
              <a:t>- C:\Users\yonem\Documents\GitHub\discord-bot-source\discord-voice-grouper\src\models\split-process-session.js</a:t>
            </a:r>
          </a:p>
          <a:p xmlns:a="http://schemas.openxmlformats.org/drawingml/2006/main">
            <a:r>
              <a:t>- C:\Users\yonem\Documents\GitHub\discord-bot-source\discord-voice-grouper\test\voice-exit-schedule.test.js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C:\Users\yonem\Documents\GitHub\discord-bot-source\discord-voice-grouper\src\features\voice-split.js</a:t>
            </a:r>
          </a:p>
          <a:p xmlns:a="http://schemas.openxmlformats.org/drawingml/2006/main">
            <a:r>
              <a:t>- C:\Users\yonem\Documents\GitHub\discord-bot-source\discord-voice-grouper\src\split-waiting-utils.js</a:t>
            </a:r>
          </a:p>
          <a:p xmlns:a="http://schemas.openxmlformats.org/drawingml/2006/main">
            <a:r>
              <a:t>- C:\Users\yonem\Documents\GitHub\discord-bot-source\discord-voice-grouper\src\features\split-review.js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C:\Users\yonem\Documents\GitHub\discord-bot-source\discord-voice-grouper\src\features\kokuchi.js</a:t>
            </a:r>
          </a:p>
          <a:p xmlns:a="http://schemas.openxmlformats.org/drawingml/2006/main">
            <a:r>
              <a:t>- C:\Users\yonem\Documents\GitHub\discord-bot-source\discord-voice-grouper\src\kokuchi-event-state.js</a:t>
            </a:r>
          </a:p>
          <a:p xmlns:a="http://schemas.openxmlformats.org/drawingml/2006/main">
            <a:r>
              <a:t>- C:\Users\yonem\Documents\GitHub\discord-bot-source\discord-voice-grouper\src\kokuchi-gathering-vc-open.js</a:t>
            </a:r>
          </a:p>
          <a:p xmlns:a="http://schemas.openxmlformats.org/drawingml/2006/main">
            <a:r>
              <a:t>- C:\Users\yonem\Documents\GitHub\discord-bot-source\discord-voice-grouper\src\kokuchi-recovery-service.js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C:\Users\yonem\Documents\GitHub\discord-bot-source\discord-voice-grouper\src\features\recruitment.js</a:t>
            </a:r>
          </a:p>
          <a:p xmlns:a="http://schemas.openxmlformats.org/drawingml/2006/main">
            <a:r>
              <a:t>- C:\Users\yonem\Documents\GitHub\discord-bot-source\discord-voice-grouper\src\otebo-utils.js</a:t>
            </a:r>
          </a:p>
          <a:p xmlns:a="http://schemas.openxmlformats.org/drawingml/2006/main">
            <a:r>
              <a:t>- C:\Users\yonem\Documents\GitHub\discord-bot-source\discord-voice-grouper\src\call-wait-role-service.js</a:t>
            </a:r>
          </a:p>
          <a:p xmlns:a="http://schemas.openxmlformats.org/drawingml/2006/main">
            <a:r>
              <a:t>- C:\Users\yonem\Documents\GitHub\discord-bot-source\discord-voice-grouper\src\call-wait-schedule-utils.js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C:\Users\yonem\Documents\GitHub\discord-bot-source\discord-voice-grouper\src\features\profile.js</a:t>
            </a:r>
          </a:p>
          <a:p xmlns:a="http://schemas.openxmlformats.org/drawingml/2006/main">
            <a:r>
              <a:t>- C:\Users\yonem\Documents\GitHub\discord-bot-source\discord-voice-grouper\src\fukyo-theme-service.js</a:t>
            </a:r>
          </a:p>
          <a:p xmlns:a="http://schemas.openxmlformats.org/drawingml/2006/main">
            <a:r>
              <a:t>- C:\Users\yonem\Documents\GitHub\discord-bot-source\discord-voice-grouper\src\features\feedback-forms.js</a:t>
            </a:r>
          </a:p>
          <a:p xmlns:a="http://schemas.openxmlformats.org/drawingml/2006/main">
            <a:r>
              <a:t>- C:\Users\yonem\Documents\GitHub\discord-bot-source\discord-voice-grouper\src\features\bump-reminder.js</a:t>
            </a:r>
          </a:p>
          <a:p xmlns:a="http://schemas.openxmlformats.org/drawingml/2006/main">
            <a:r>
              <a:t>- C:\Users\yonem\Documents\GitHub\discord-bot-source\discord-voice-grouper\src\voice-channel-control-service.js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C:\Users\yonem\Documents\GitHub\discord-bot-source\discord-voice-grouper\src\vc-dm-service.js</a:t>
            </a:r>
          </a:p>
          <a:p xmlns:a="http://schemas.openxmlformats.org/drawingml/2006/main">
            <a:r>
              <a:t>- C:\Users\yonem\Documents\GitHub\discord-bot-source\discord-voice-grouper\src\vc-dm-panel-service.js</a:t>
            </a:r>
          </a:p>
          <a:p xmlns:a="http://schemas.openxmlformats.org/drawingml/2006/main">
            <a:r>
              <a:t>- C:\Users\yonem\Documents\GitHub\discord-bot-source\discord-voice-grouper\src\operational-status-service.js</a:t>
            </a:r>
          </a:p>
          <a:p xmlns:a="http://schemas.openxmlformats.org/drawingml/2006/main">
            <a:r>
              <a:t>- C:\Users\yonem\Documents\GitHub\discord-bot-source\discord-voice-grouper\src\operational-status-board-service.js</a:t>
            </a:r>
          </a:p>
          <a:p xmlns:a="http://schemas.openxmlformats.org/drawingml/2006/main">
            <a:r>
              <a:t>- C:\Users\yonem\Documents\GitHub\discord-bot-source\discord-voice-grouper\src\health-server.js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C:\Users\yonem\Documents\GitHub\discord-bot-source\discord-voice-grouper\src\mongo-lease-lock-store.js</a:t>
            </a:r>
          </a:p>
          <a:p xmlns:a="http://schemas.openxmlformats.org/drawingml/2006/main">
            <a:r>
              <a:t>- C:\Users\yonem\Documents\GitHub\discord-bot-source\discord-voice-grouper\src\scheduled-action-store.js</a:t>
            </a:r>
          </a:p>
          <a:p xmlns:a="http://schemas.openxmlformats.org/drawingml/2006/main">
            <a:r>
              <a:t>- C:\Users\yonem\Documents\GitHub\discord-bot-source\discord-voice-grouper\src\models\voice-participant-role-grant.js</a:t>
            </a:r>
          </a:p>
          <a:p xmlns:a="http://schemas.openxmlformats.org/drawingml/2006/main">
            <a:r>
              <a:t>- C:\Users\yonem\Documents\GitHub\discord-bot-source\discord-voice-grouper\test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C:\Users\yonem\Documents\GitHub\discord-bot-source\discord-voice-grouper\src\commands.js</a:t>
            </a:r>
          </a:p>
          <a:p xmlns:a="http://schemas.openxmlformats.org/drawingml/2006/main">
            <a:r>
              <a:t>- C:\Users\yonem\Documents\GitHub\discord-bot-source\discord-voice-grouper\src\register-commands.js</a:t>
            </a:r>
          </a:p>
          <a:p xmlns:a="http://schemas.openxmlformats.org/drawingml/2006/main">
            <a:r>
              <a:t>- C:\Users\yonem\Documents\GitHub\discord-bot-source\discord-voice-grouper\src\features\guild-operations.js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C:\Users\yonem\Documents\GitHub\discord-bot-source\discord-voice-grouper\src\features\recruitment.js</a:t>
            </a:r>
          </a:p>
          <a:p xmlns:a="http://schemas.openxmlformats.org/drawingml/2006/main">
            <a:r>
              <a:t>- C:\Users\yonem\Documents\GitHub\discord-bot-source\discord-voice-grouper\src\features\voice-split.js</a:t>
            </a:r>
          </a:p>
          <a:p xmlns:a="http://schemas.openxmlformats.org/drawingml/2006/main">
            <a:r>
              <a:t>- C:\Users\yonem\Documents\GitHub\discord-bot-source\discord-voice-grouper\src\bot.js</a:t>
            </a:r>
          </a:p>
          <a:p xmlns:a="http://schemas.openxmlformats.org/drawingml/2006/main">
            <a:r>
              <a:t>- C:\Users\yonem\Documents\GitHub\discord-bot-source\discord-voice-grouper\src\models\guild-settings.js</a:t>
            </a:r>
          </a:p>
          <a:p xmlns:a="http://schemas.openxmlformats.org/drawingml/2006/main">
            <a:r>
              <a:t>- C:\Users\yonem\Documents\GitHub\discord-bot-source\discord-voice-grouper\package.json</a:t>
            </a:r>
          </a:p>
          <a:p xmlns:a="http://schemas.openxmlformats.org/drawingml/2006/main">
            <a:r>
              <a:t>- C:\Users\yonem\Documents\GitHub\discord-bot-source\discord-voice-grouper\README.md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C:\Users\yonem\Documents\GitHub\discord-bot-source\discord-voice-grouper\src\mongodb.js</a:t>
            </a:r>
          </a:p>
          <a:p xmlns:a="http://schemas.openxmlformats.org/drawingml/2006/main">
            <a:r>
              <a:t>- C:\Users\yonem\Documents\GitHub\discord-bot-source\discord-voice-grouper\src\bot.js</a:t>
            </a:r>
          </a:p>
          <a:p xmlns:a="http://schemas.openxmlformats.org/drawingml/2006/main">
            <a:r>
              <a:t>- C:\Users\yonem\Documents\GitHub\discord-bot-source\discord-voice-grouper\src\features</a:t>
            </a:r>
          </a:p>
          <a:p xmlns:a="http://schemas.openxmlformats.org/drawingml/2006/main">
            <a:r>
              <a:t>- C:\Users\yonem\Documents\GitHub\discord-bot-source\discord-voice-grouper\src\health-server.js</a:t>
            </a:r>
          </a:p>
          <a:p xmlns:a="http://schemas.openxmlformats.org/drawingml/2006/main">
            <a:r>
              <a:t>- C:\Users\yonem\Documents\GitHub\discord-bot-source\discord-voice-grouper\src\vc-dm-service.js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C:\Users\yonem\Documents\GitHub\discord-bot-source\discord-voice-grouper\src\commands.js</a:t>
            </a:r>
          </a:p>
          <a:p xmlns:a="http://schemas.openxmlformats.org/drawingml/2006/main">
            <a:r>
              <a:t>- C:\Users\yonem\Documents\GitHub\discord-bot-source\discord-voice-grouper\src\features</a:t>
            </a:r>
          </a:p>
          <a:p xmlns:a="http://schemas.openxmlformats.org/drawingml/2006/main">
            <a:r>
              <a:t>- C:\Users\yonem\Documents\GitHub\discord-bot-source\discord-voice-grouper\src\models</a:t>
            </a:r>
          </a:p>
          <a:p xmlns:a="http://schemas.openxmlformats.org/drawingml/2006/main">
            <a:r>
              <a:t>- C:\Users\yonem\Documents\GitHub\discord-bot-source\discord-voice-grouper\test\operational-status.test.js</a:t>
            </a:r>
          </a:p>
          <a:p xmlns:a="http://schemas.openxmlformats.org/drawingml/2006/main">
            <a:r>
              <a:t>- C:\Users\yonem\Documents\GitHub\discord-bot-source\discord-voice-grouper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追加機能は現状の意図（会話参加の促進と運営自動化）および確認した問題点から導出した提案。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C:\Users\yonem\Documents\GitHub\discord-bot-source\discord-voice-grouper\README.md</a:t>
            </a:r>
          </a:p>
          <a:p xmlns:a="http://schemas.openxmlformats.org/drawingml/2006/main">
            <a:r>
              <a:t>- C:\Users\yonem\Documents\GitHub\discord-bot-source\discord-voice-grouper\src</a:t>
            </a:r>
          </a:p>
          <a:p xmlns:a="http://schemas.openxmlformats.org/drawingml/2006/main">
            <a:r>
              <a:t>- C:\Users\yonem\Documents\GitHub\discord-bot-source\discord-voice-grouper\test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C:\Users\yonem\Documents\GitHub\discord-bot-source\discord-voice-grouper\src\commands.js</a:t>
            </a:r>
          </a:p>
          <a:p xmlns:a="http://schemas.openxmlformats.org/drawingml/2006/main">
            <a:r>
              <a:t>- C:\Users\yonem\Documents\GitHub\discord-bot-source\discord-voice-grouper\src\features\profile.js</a:t>
            </a:r>
          </a:p>
          <a:p xmlns:a="http://schemas.openxmlformats.org/drawingml/2006/main">
            <a:r>
              <a:t>- C:\Users\yonem\Documents\GitHub\discord-bot-source\discord-voice-grouper\src\vc-dm-service.js</a:t>
            </a:r>
          </a:p>
          <a:p xmlns:a="http://schemas.openxmlformats.org/drawingml/2006/main">
            <a:r>
              <a:t>- C:\Users\yonem\Documents\GitHub\discord-bot-source\discord-voice-grouper\src\models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C:\Users\yonem\Documents\GitHub\discord-bot-source\discord-voice-grouper\src\commands.js</a:t>
            </a:r>
          </a:p>
          <a:p xmlns:a="http://schemas.openxmlformats.org/drawingml/2006/main">
            <a:r>
              <a:t>- C:\Users\yonem\Documents\GitHub\discord-bot-source\discord-voice-grouper\src\settings-store.js</a:t>
            </a:r>
          </a:p>
          <a:p xmlns:a="http://schemas.openxmlformats.org/drawingml/2006/main">
            <a:r>
              <a:t>- C:\Users\yonem\Documents\GitHub\discord-bot-source\discord-voice-grouper\src\features\kokuchi.js</a:t>
            </a:r>
          </a:p>
          <a:p xmlns:a="http://schemas.openxmlformats.org/drawingml/2006/main">
            <a:r>
              <a:t>- C:\Users\yonem\Documents\GitHub\discord-bot-source\discord-voice-grouper\src\operational-management-service.js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C:\Users\yonem\Documents\GitHub\discord-bot-source\discord-voice-grouper\src\scheduled-action-store.js</a:t>
            </a:r>
          </a:p>
          <a:p xmlns:a="http://schemas.openxmlformats.org/drawingml/2006/main">
            <a:r>
              <a:t>- C:\Users\yonem\Documents\GitHub\discord-bot-source\discord-voice-grouper\src\mongo-lease-lock-store.js</a:t>
            </a:r>
          </a:p>
          <a:p xmlns:a="http://schemas.openxmlformats.org/drawingml/2006/main">
            <a:r>
              <a:t>- C:\Users\yonem\Documents\GitHub\discord-bot-source\discord-voice-grouper\src\features\feedback-forms.js</a:t>
            </a:r>
          </a:p>
          <a:p xmlns:a="http://schemas.openxmlformats.org/drawingml/2006/main">
            <a:r>
              <a:t>- C:\Users\yonem\Documents\GitHub\discord-bot-source\discord-voice-grouper\src\bot.js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C:\Users\yonem\Documents\GitHub\discord-bot-source\discord-voice-grouper\src\models\split-process-session.js</a:t>
            </a:r>
          </a:p>
          <a:p xmlns:a="http://schemas.openxmlformats.org/drawingml/2006/main">
            <a:r>
              <a:t>- C:\Users\yonem\Documents\GitHub\discord-bot-source\discord-voice-grouper\src\models\split-review.js</a:t>
            </a:r>
          </a:p>
          <a:p xmlns:a="http://schemas.openxmlformats.org/drawingml/2006/main">
            <a:r>
              <a:t>- C:\Users\yonem\Documents\GitHub\discord-bot-source\discord-voice-grouper\src\models\call-wait-interest.js</a:t>
            </a:r>
          </a:p>
          <a:p xmlns:a="http://schemas.openxmlformats.org/drawingml/2006/main">
            <a:r>
              <a:t>- C:\Users\yonem\Documents\GitHub\discord-bot-source\discord-voice-grouper\src\vc-dm-store.js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C:\Users\yonem\Documents\GitHub\discord-bot-source\discord-voice-grouper\src\bot.js</a:t>
            </a:r>
          </a:p>
          <a:p xmlns:a="http://schemas.openxmlformats.org/drawingml/2006/main">
            <a:r>
              <a:t>- C:\Users\yonem\Documents\GitHub\discord-bot-source\discord-voice-grouper\src\models\guild-settings.js</a:t>
            </a:r>
          </a:p>
          <a:p xmlns:a="http://schemas.openxmlformats.org/drawingml/2006/main">
            <a:r>
              <a:t>- C:\Users\yonem\Documents\GitHub\discord-bot-source\discord-voice-grouper\src\commands.js</a:t>
            </a:r>
          </a:p>
          <a:p xmlns:a="http://schemas.openxmlformats.org/drawingml/2006/main">
            <a:r>
              <a:t>- C:\Users\yonem\Documents\GitHub\discord-bot-source\discord-voice-grouper\package.json</a:t>
            </a:r>
          </a:p>
          <a:p xmlns:a="http://schemas.openxmlformats.org/drawingml/2006/main">
            <a:r>
              <a:t>- C:\Users\yonem\Documents\GitHub\discord-bot-source\discord-voice-grouper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ロードマップは工数見積ではなく推奨順序。実チーム体制・稼働規模に応じて再見積が必要。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</a:t>
            </a:r>
          </a:p>
          <a:p xmlns:a="http://schemas.openxmlformats.org/drawingml/2006/main">
            <a:r>
              <a:t>- C:\Users\yonem\Documents\GitHub\discord-bot-source\discord-voice-grouper\test</a:t>
            </a:r>
          </a:p>
          <a:p xmlns:a="http://schemas.openxmlformats.org/drawingml/2006/main">
            <a:r>
              <a:t>- C:\Users\yonem\Documents\GitHub\discord-bot-source\discord-voice-grouper\README.md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C:\Users\yonem\Documents\GitHub\discord-bot-source\discord-voice-grouper\src</a:t>
            </a:r>
          </a:p>
          <a:p xmlns:a="http://schemas.openxmlformats.org/drawingml/2006/main">
            <a:r>
              <a:t>- C:\Users\yonem\Documents\GitHub\discord-bot-source\discord-voice-grouper\test</a:t>
            </a:r>
          </a:p>
          <a:p xmlns:a="http://schemas.openxmlformats.org/drawingml/2006/main">
            <a:r>
              <a:t>- C:\Users\yonem\Documents\GitHub\discord-bot-source\discord-voice-grouper\README.md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929b897cd4d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3f7d60866d4be0" /><Relationship Type="http://schemas.openxmlformats.org/officeDocument/2006/relationships/slideLayout" Target="/ppt/slideLayouts/slideLayout1.xml" Id="R5c4d37ffb98d4a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4d37ffb98d4a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6950610a6457d" /><Relationship Type="http://schemas.openxmlformats.org/officeDocument/2006/relationships/notesSlide" Target="/ppt/notesSlides/notesSlide1.xml" Id="R165d91bb100943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374fd7f4f414f" /><Relationship Type="http://schemas.openxmlformats.org/officeDocument/2006/relationships/notesSlide" Target="/ppt/notesSlides/notesSlide2.xml" Id="R4a80505423b24c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08c3e0be1492c" /><Relationship Type="http://schemas.openxmlformats.org/officeDocument/2006/relationships/chart" Target="/ppt/slides/charts/chart1.xml" Id="Re27a9c50109849ce" /><Relationship Type="http://schemas.openxmlformats.org/officeDocument/2006/relationships/notesSlide" Target="/ppt/notesSlides/notesSlide3.xml" Id="Rf273e9e182a442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3067caf754a0f" /><Relationship Type="http://schemas.openxmlformats.org/officeDocument/2006/relationships/notesSlide" Target="/ppt/notesSlides/notesSlide4.xml" Id="R4cac5795f4ba46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f77a9336046df" /><Relationship Type="http://schemas.openxmlformats.org/officeDocument/2006/relationships/notesSlide" Target="/ppt/notesSlides/notesSlide5.xml" Id="Rf608d10b31df47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debe3103b40f8" /><Relationship Type="http://schemas.openxmlformats.org/officeDocument/2006/relationships/notesSlide" Target="/ppt/notesSlides/notesSlide6.xml" Id="R2f7a44bf12b247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128c384984320" /><Relationship Type="http://schemas.openxmlformats.org/officeDocument/2006/relationships/notesSlide" Target="/ppt/notesSlides/notesSlide7.xml" Id="Rebe77796faff46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463b9d4bc4fc6" /><Relationship Type="http://schemas.openxmlformats.org/officeDocument/2006/relationships/notesSlide" Target="/ppt/notesSlides/notesSlide8.xml" Id="R8e62499c5c7c4d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cf7288b7e49e8" /><Relationship Type="http://schemas.openxmlformats.org/officeDocument/2006/relationships/notesSlide" Target="/ppt/notesSlides/notesSlide9.xml" Id="R4265178e443744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f2844240943f2" /><Relationship Type="http://schemas.openxmlformats.org/officeDocument/2006/relationships/notesSlide" Target="/ppt/notesSlides/notesSlide10.xml" Id="Rf2179169622743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1c7fd14544f02" /><Relationship Type="http://schemas.openxmlformats.org/officeDocument/2006/relationships/notesSlide" Target="/ppt/notesSlides/notesSlide11.xml" Id="Re99608e4b82944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dfdb4bcd8450f" /><Relationship Type="http://schemas.openxmlformats.org/officeDocument/2006/relationships/notesSlide" Target="/ppt/notesSlides/notesSlide12.xml" Id="Rdcc3355fba2149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040ece4984342" /><Relationship Type="http://schemas.openxmlformats.org/officeDocument/2006/relationships/notesSlide" Target="/ppt/notesSlides/notesSlide13.xml" Id="Re3d89855c9f648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75a14ce5e4e35" /><Relationship Type="http://schemas.openxmlformats.org/officeDocument/2006/relationships/chart" Target="/ppt/slides/charts/chart2.xml" Id="R2c61c3c69c074730" /><Relationship Type="http://schemas.openxmlformats.org/officeDocument/2006/relationships/notesSlide" Target="/ppt/notesSlides/notesSlide14.xml" Id="Rdd35930d931b40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d03b992774c05" /><Relationship Type="http://schemas.openxmlformats.org/officeDocument/2006/relationships/notesSlide" Target="/ppt/notesSlides/notesSlide15.xml" Id="Re438b14b0f764f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0a81d935348f4" /><Relationship Type="http://schemas.openxmlformats.org/officeDocument/2006/relationships/notesSlide" Target="/ppt/notesSlides/notesSlide16.xml" Id="R14fc6d70881e44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293ab5887417f" /><Relationship Type="http://schemas.openxmlformats.org/officeDocument/2006/relationships/notesSlide" Target="/ppt/notesSlides/notesSlide17.xml" Id="Rdc66fa9a970f47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92581902443f1" /><Relationship Type="http://schemas.openxmlformats.org/officeDocument/2006/relationships/notesSlide" Target="/ppt/notesSlides/notesSlide18.xml" Id="R479bbd8c52b0438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85609556e4b7a" /><Relationship Type="http://schemas.openxmlformats.org/officeDocument/2006/relationships/notesSlide" Target="/ppt/notesSlides/notesSlide19.xml" Id="R9dea636d716b4da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1d309ec774d0a" /><Relationship Type="http://schemas.openxmlformats.org/officeDocument/2006/relationships/notesSlide" Target="/ppt/notesSlides/notesSlide20.xml" Id="R47ada9b0a7fa43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b9acb95cb43ac" /><Relationship Type="http://schemas.openxmlformats.org/officeDocument/2006/relationships/notesSlide" Target="/ppt/notesSlides/notesSlide21.xml" Id="R40527d6e11c249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0ad5f791447c4" /><Relationship Type="http://schemas.openxmlformats.org/officeDocument/2006/relationships/notesSlide" Target="/ppt/notesSlides/notesSlide22.xml" Id="R3382e0ad5dde42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031336022490e" /><Relationship Type="http://schemas.openxmlformats.org/officeDocument/2006/relationships/notesSlide" Target="/ppt/notesSlides/notesSlide23.xml" Id="Rac313b6ad6be42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91244129c45d9" /><Relationship Type="http://schemas.openxmlformats.org/officeDocument/2006/relationships/notesSlide" Target="/ppt/notesSlides/notesSlide24.xml" Id="Rffd3671ff77a431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行数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recruitment</c:v>
              </c:pt>
              <c:pt idx="1">
                <c:v>voice-split</c:v>
              </c:pt>
              <c:pt idx="2">
                <c:v>kokuchi</c:v>
              </c:pt>
              <c:pt idx="3">
                <c:v>vc-dm</c:v>
              </c:pt>
              <c:pt idx="4">
                <c:v>bot</c:v>
              </c:pt>
              <c:pt idx="5">
                <c:v>その他</c:v>
              </c:pt>
            </c:strLit>
          </c:cat>
          <c:val>
            <c:numLit>
              <c:formatCode>General</c:formatCode>
              <c:ptCount val="6"/>
              <c:pt idx="0">
                <c:v>5642</c:v>
              </c:pt>
              <c:pt idx="1">
                <c:v>4903</c:v>
              </c:pt>
              <c:pt idx="2">
                <c:v>2886</c:v>
              </c:pt>
              <c:pt idx="3">
                <c:v>1701</c:v>
              </c:pt>
              <c:pt idx="4">
                <c:v>1564</c:v>
              </c:pt>
              <c:pt idx="5">
                <c:v>11688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行数</c:v>
          </c:tx>
          <c:spPr>
            <a:solidFill xmlns:a="http://schemas.openxmlformats.org/drawingml/2006/main">
              <a:srgbClr val="C63C45"/>
            </a:solidFill>
          </c:spPr>
          <c:cat>
            <c:strLit>
              <c:ptCount val="5"/>
              <c:pt idx="0">
                <c:v>recruitment</c:v>
              </c:pt>
              <c:pt idx="1">
                <c:v>voice-split</c:v>
              </c:pt>
              <c:pt idx="2">
                <c:v>kokuchi</c:v>
              </c:pt>
              <c:pt idx="3">
                <c:v>vc-dm</c:v>
              </c:pt>
              <c:pt idx="4">
                <c:v>bot</c:v>
              </c:pt>
            </c:strLit>
          </c:cat>
          <c:val>
            <c:numLit>
              <c:formatCode>General</c:formatCode>
              <c:ptCount val="5"/>
              <c:pt idx="0">
                <c:v>5642</c:v>
              </c:pt>
              <c:pt idx="1">
                <c:v>4903</c:v>
              </c:pt>
              <c:pt idx="2">
                <c:v>2886</c:v>
              </c:pt>
              <c:pt idx="3">
                <c:v>1701</c:v>
              </c:pt>
              <c:pt idx="4">
                <c:v>1564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118FC-E85E-4C6D-8530-2CB8B174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CODEBASE REVIEW / 2026.08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69631-44D2-433E-BBE5-7C2266B5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981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Discord Bot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現状分析と進化ロードマップ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F0D48-3EE2-4498-930A-A655F14E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現行機能・問題点・追加すべき30機能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B7D03-1758-4ADB-B0EC-66245120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discord-voice-grouper / 実装コード・README・テストを横断解析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AC63A-3847-4055-8B40-7FADF4F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1950"/>
            <a:ext cx="1266825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B5F6B-F04B-4888-976D-78DC2FFB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76275"/>
            <a:ext cx="6381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3566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EE2CE-0D63-40E8-94B8-2D374D82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BOT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42698-E8C2-4B05-B392-12237B3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このBotの本質は『会話が続く場』を自動運営すること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D00F3-2A24-468B-A3C1-989551D8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B8CB0-AB48-4E97-BCAD-4F3443BF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単なるVC分割ツールではない。</a:t>
            </a:r>
          </a:p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集客 → 集合 → 会話支援 → 振り返り → 再参加までを一つの運用ループとして実装している。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44AAD-AB7F-4351-9A47-32501654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CD8FC-DF23-4E32-9DB5-990BF180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参加を生み出す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37482-33CC-4135-B001-1CC4DC22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告知、定時募集、匿名募集、未参加者DM、bumpリマインドで『参加のきっかけ』を増やす。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81DD3-5D7F-4253-B5A3-BC3A2E02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432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C66EC-A66F-4CF9-9B2E-71A9F4B1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DURING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E7F59-7B13-4E95-B040-4ACA166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05200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会話を成立させる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9BB36-D790-4468-98A7-A6DD528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10050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3〜4人分割、途中参加、話題、発話順、プロフィール、VC操作で会話開始と継続を支える。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432DF-7329-497F-8E15-01D38C72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8BC7C-0539-46BA-B4AF-A23A07D7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6BC9C-F808-48B0-B303-609E602C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次回へつなげる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7BE07-0A24-4CEB-9AC9-C4C840B5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終了通知、ロール回収、感想集計、運用ログ、状態復旧でイベントを閉じ、改善材料を残す。</a:t>
            </a:r>
          </a:p>
        </p:txBody>
      </p:sp>
    </p:spTree>
    <p:extLst>
      <p:ext uri="{BB962C8B-B14F-4D97-AF65-F5344CB8AC3E}">
        <p14:creationId xmlns:p14="http://schemas.microsoft.com/office/powerpoint/2010/main" val="859539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21EA9-D0E6-4B9D-8C1C-D84AA162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BOT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F17C1-1244-490F-8309-1B6B2F99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機能密度は高く、品質意識も強い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9301E-2FFD-426D-AED7-13B72A66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CC039-0EA6-4CC5-B8A0-8E9680F5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28,384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C0B0B-48ED-402F-8FD1-DC9A9207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src 配下の行数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0C0BA-711A-4885-826C-27BC727D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4763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8AECA-5263-4340-8A99-CC690434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4787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JavaScriptソース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96DC4-4384-472C-BED3-7B847906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7CA14-E5FD-47BA-8368-1E489ED7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MongoDBモデル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18316-B502-4851-BAFE-F9DB0E1F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476375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7C5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C7C54"/>
                </a:solidFill>
                <a:latin typeface="Yu Gothic"/>
                <a:ea typeface="Yu Gothic"/>
                <a:cs typeface="Yu Gothic"/>
              </a:rPr>
              <a:t>224 / 224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C5F1B-700F-45F5-A337-1E07655E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47875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成功したテスト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400050" y="2743200"/>
          <a:ext xmlns:a="http://schemas.openxmlformats.org/drawingml/2006/main" cx="7048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7a9c50109849ce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8BDC5-C71B-4E11-BA67-26D759CB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読み取れること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D552E0-BB9B-45BA-874A-A71B0960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33813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✓ 再起動復旧・冪等性・競合制御のテストが厚い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✓ 主要2モジュールだけで全体の37%を占有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✓ 機能追加余地より、構造改善の必要性が先に高まっている</a:t>
            </a:r>
          </a:p>
        </p:txBody>
      </p:sp>
    </p:spTree>
    <p:extLst>
      <p:ext uri="{BB962C8B-B14F-4D97-AF65-F5344CB8AC3E}">
        <p14:creationId xmlns:p14="http://schemas.microsoft.com/office/powerpoint/2010/main" val="1832257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30F02-A68B-4A87-B620-C1E31E57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BOT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C2446-FBF0-4CA7-92E3-ACD7E6DE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イベント駆動の中核に、永続状態と復旧処理が重なる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A54AF-BD8F-4498-9E83-B8B3AD10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18011-707C-48EC-BBDD-9992EC8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194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F48CD-3224-44F1-80E7-73F5D666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194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5633D-4E6B-4291-B7CC-62D31146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194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0353B-70D8-4130-8395-8EB5421D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19425"/>
            <a:ext cx="514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8A5D5-9EC4-4742-82C8-1C8E0BB7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D58FF-893F-428E-B445-3503494F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Discord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DA0C9-056E-418D-BC2D-BDE99518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コマンド・ボタン</a:t>
            </a:r>
          </a:p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VC/メッセージイベント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1297D-DAFD-479A-B689-946327F4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288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9E36A-2949-42D9-B1AF-560FDA7F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1937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08992-D88C-42B6-B5AF-AD7EFCAE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7525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優先順で機能へ分配</a:t>
            </a:r>
          </a:p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終了中は受付停止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10E4E-CC74-4B6C-9893-01A7B1AC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288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BB8D0-FB4A-410C-A777-BCFFBE01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1937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05264-2168-4CD2-874E-37A6ABF9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57525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9機能モジュール</a:t>
            </a:r>
          </a:p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サービス群を注入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8A08D-171D-4404-9C5E-2AC42FAE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288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8BD70-B417-4BE4-92AE-B441BB70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1937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MongoDB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D29B0-AD86-4CF5-92B9-6F1EF4A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57525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設定・予約・リース</a:t>
            </a:r>
          </a:p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進行状態・監査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74305-3055-402C-84A5-D806F66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288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3026E-6B42-41CA-95FE-482C0F44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19375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Discord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E7322-0751-43CB-801C-98327876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57525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投稿・DM・ロール</a:t>
            </a:r>
          </a:p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VC移動・権限変更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93E86-84FE-468C-879C-2329C29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二層の状態管理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35CE2-39BB-48BA-8A9D-EEA0C703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42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永続：予約、実行状態、リース、ロール所有権、権限スナップショット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9268A-89A9-4A66-B603-1A502483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42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95250" rIns="15240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メモリ：タイマー、セッション、ロック、クールダウン、監視状態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D7A581-8A4E-4224-BAC1-CB1BAC80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起動時の復旧コーディネータが、両者の不整合を再収束させる。</a:t>
            </a:r>
          </a:p>
        </p:txBody>
      </p:sp>
    </p:spTree>
    <p:extLst>
      <p:ext uri="{BB962C8B-B14F-4D97-AF65-F5344CB8AC3E}">
        <p14:creationId xmlns:p14="http://schemas.microsoft.com/office/powerpoint/2010/main" val="1474205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14C135-97B5-46B4-A05B-43C92826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BOT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29F19-25A6-4279-8A1D-4293DC37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現行機能は8つの運営領域をカバーする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5223E-4BE9-4162-B14A-FBD9983E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BCB68-FA0B-46B8-A97A-1A0CB16F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853B2-9899-4D34-86EC-D3AD2805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240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VC分割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63316-7FCF-49EE-A716-1C6B8972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3〜4人化、履歴配慮、PB転送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6A1F2-4BF4-41CC-A998-9703D75A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0DDA3-1368-4138-A7EB-2865D77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621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DF1F8-2A2F-42DF-8AEB-98242B7E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240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途中参加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B113A-8734-4B63-B827-483814B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61937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待機VC、補充、新規子VC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30DC2-6BB8-49E3-A17C-781AAC0D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381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CD2FA-8358-4824-AA9A-6D1575E7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2B030-C068-4231-A356-566FF22C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240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告知・予約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5E42E-8CB7-4110-891D-E7621DF3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事前案内、集合VC開放、復元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E0630-C666-4DBD-811D-29E16D0A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58F2F-503A-4FFE-A806-FD9D0A20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621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6B70F-18E4-4D16-92D4-56D137F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240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募集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04B41-8884-4581-A504-E65CE2F5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61937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定時・匿名・興味登録・成立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7DF4C-C31D-46CE-8475-FABD7B4C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81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8C5B0-BDA6-4B34-9B78-252DBAC5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3403A-A6C5-434C-B2FE-A365B44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会話支援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EABD5E-7329-4AD5-8000-A697FBC6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話題、発話順、プロフィール、VC操作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3E52B-194B-4481-8983-351BA51D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12BC1-B409-4CA3-AC21-35FBF5C6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857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17C04B-01D9-4CDE-9B9E-30036689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195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参加促進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9C0231-D632-43C2-8AF9-9DA9297E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71487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未参加DM、bump、布教テーマ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DFEDEA-DDDF-4E54-933C-7EB6F2B5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476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33D33-77A6-467F-BCBB-76BE7052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3B475-FE7A-4BE3-873E-4B7BD4F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95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フィードバック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3BD908-A545-44E2-B139-75BAEC26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3問感想、自由記述、集計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F97F13-343B-4626-B56E-0FE19B5B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76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5B98E-8868-4AE4-BE20-0688A36A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8576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8BE89-4186-419D-B572-8F4E706B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219575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運用基盤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1CFFF5-527F-482E-9453-64F216E1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71487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設定、ログ、状態ボード、ヘルス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5D88C6-52C2-49FD-9561-2B4A55B4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76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5727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58705-F437-424A-9F18-06821D3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CURRENT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199A4-ACA7-47A0-B5BB-8A152AC8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/splitvc は“分ける”より“安全に開始して閉じる”処理が中心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AE8C5-12FB-45D2-B834-9DC2B0AD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AC74B-E591-4B8C-90B9-89E474DF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CA5C8-3D5D-4543-AF2A-7F53D689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19325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重複ペアを減らす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7F6A2-0B56-4AF6-B424-91305A54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基本は3人、余りを4人化。前回グループのペア履歴と500候補のランダム評価を使い、同じ組み合わせを抑える。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B62D3-B8CD-4A11-AD56-0698D106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5737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A0C86-4F00-4FA4-B9E5-2C0B8AA3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57375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53C40-1EDD-4304-9297-48040301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19325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ロール付与後に移動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CD898-9083-406F-83B0-F5144805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24175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MongoDBリースで同時実行を防止。参加者ロールの所有権を永続化してから、代表者をPB親VC、残りを対応する子VCへ移す。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0DAA2-AD4D-4A6A-9ED7-4F094867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5737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D255E-FD39-46A5-90DB-674D7F17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57375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CLOSE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41BED-7885-4E99-A38F-7592FADF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19325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終了まで自動化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BA4393-0920-40DC-85F2-86669647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24175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開始案内、話題・発話順、終了通知、感想フォーム、参加人数入りのお礼、ロール解除までを予約。子VC全削除時は早期終了する。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421DC-6131-42FE-A22E-083C5A0C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85725" rIns="15240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C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C7C54"/>
                </a:solidFill>
                <a:latin typeface="Yu Gothic"/>
                <a:ea typeface="Yu Gothic"/>
                <a:cs typeface="Yu Gothic"/>
              </a:rPr>
              <a:t>強み：移動失敗時のロール巻き戻し、セッション単位の所有権、再起動後の後続処理復元まで実装済み。</a:t>
            </a:r>
          </a:p>
        </p:txBody>
      </p:sp>
    </p:spTree>
    <p:extLst>
      <p:ext uri="{BB962C8B-B14F-4D97-AF65-F5344CB8AC3E}">
        <p14:creationId xmlns:p14="http://schemas.microsoft.com/office/powerpoint/2010/main" val="1189470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CCA4A6-6D69-4D15-BBE2-056C8A36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CURRENT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DC643-BA7F-4C8E-B6A8-88706A97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途中参加と会話支援が、イベント中の離脱摩擦を下げる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27515-6865-47A0-A72E-F2A21835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C5CF5-8CC4-4200-9CE4-DEE9BADA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0375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2ADE4-519D-4E71-8215-092672E1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27F99-48B6-4D14-B3A9-B87A207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A5417-BF30-431E-9F6A-FDA92216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0375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E1C6C-DCE5-404E-8E16-57C2690A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1E2C5-8668-4A50-A848-211862FD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待機VC作成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85E50-4B05-4882-BDBE-3D171126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分割後10分監視。</a:t>
            </a:r>
          </a:p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案内メッセージも同期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97879-B7D5-4862-9384-9D9FA647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52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1F3E4-2DAB-4E43-819D-31EFD8C2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空きへ補充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D4CFE-5ACE-41D8-AEDB-785673B6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86125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4人未満の子VCへ</a:t>
            </a:r>
          </a:p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履歴を見て最適配置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9207C-6C79-4BD4-8D2A-FC08DE9C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52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557BE-1D0E-41A9-8495-B9C167C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3人で新設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A93C5-EA37-424A-A314-2F8CCCA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86125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空きがなければ</a:t>
            </a:r>
          </a:p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新しい子VCへ転送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AA348-B487-457C-8C43-5093EA4E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52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DE776-6241-483D-A8E8-2E431FDB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話題を更新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59485-9C97-4DFD-9BD5-FC7C7BDB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86125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フォーム内容を</a:t>
            </a:r>
          </a:p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VCステータスへ反映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76AAEF-3EED-4952-9375-C3194DC0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52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5E223-5C3C-46AC-AA09-6CCF0606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感想を回収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89B38-4EF2-42D8-9C2E-2749FFD3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86125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3問＋任意コメント</a:t>
            </a:r>
          </a:p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一人一回答で保存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8951C-05B1-4E40-8D42-B995B5CD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補助機能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DEDB3-50F8-40E9-90EA-4AFAEC66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14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6人以上のVCへ自動分割提案  /  2人以上で参加者ロール付与  /  話題フォーム  /  ランダム話題  /  発話順の提示</a:t>
            </a:r>
          </a:p>
        </p:txBody>
      </p:sp>
    </p:spTree>
    <p:extLst>
      <p:ext uri="{BB962C8B-B14F-4D97-AF65-F5344CB8AC3E}">
        <p14:creationId xmlns:p14="http://schemas.microsoft.com/office/powerpoint/2010/main" val="16729708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30CAC-47A5-4D56-BE33-3BD36ACA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CURRENT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31D46-8EF9-4466-A5AC-729C030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告知から集合VC権限復元までを、開催回単位で管理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5C3D7-4D2B-493E-9257-1C26F403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B11C8-71B7-45AB-A362-1E3CA02C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B17E0-A0E5-4DCA-8C75-B245D5D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747B5-45CE-416B-A892-2FA94C26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30分前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35386-AA69-41B3-B348-389B97A2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事前案内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B838D-65C8-4B52-8737-364B26DC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952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設定チャンネルへ開催案内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A46EA-6248-4AF3-9C9F-EC7CA88A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BA11A-6F0E-497E-B2CC-3A563E3B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95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20分前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E16F9-AAE4-4D73-ABD3-F6E75460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850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集合VC開放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9725C-E5F1-4CE0-8F5D-CC3652FC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14750"/>
            <a:ext cx="1952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@everyone の閲覧・接続を一時許可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62050-8BB2-415D-B787-BD22BD50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38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FD0D7-25D7-4767-A4EF-819A17A2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5分前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09521-B2A7-4DDE-A22A-A1FB7EF8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集合開始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7551A-8D19-480A-A79C-ECD373FE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1952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設定ロールへメンション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8FCF4-1117-4D6C-AA7F-739C69FF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38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F9706A-A006-4D6C-A225-A203869C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開始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D31DB-A3A9-46A7-90B8-80094EE9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850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splitvc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DCE16-EB0F-49D1-BCAA-269C3B8A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952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転送後は集合VCを閉じる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241AA-D80B-4C47-8EBA-4103EB72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38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6D2896-CF4C-4691-BB0B-31967953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955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終了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D0633-3BA9-4673-B08E-66091773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3850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権限復元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DFC87-B9B0-4D40-91CE-D27EC04D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14750"/>
            <a:ext cx="1952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許可・拒否・継承を正確に戻す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FC39D-1FA5-49B9-AC37-1FC79EE8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04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23825" rIns="152400" bIns="952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予約・即時投稿・24:00表現・取消し・revisionガード・補償処理・再起動復旧を、開催回ID単位で制御する。</a:t>
            </a:r>
          </a:p>
        </p:txBody>
      </p:sp>
    </p:spTree>
    <p:extLst>
      <p:ext uri="{BB962C8B-B14F-4D97-AF65-F5344CB8AC3E}">
        <p14:creationId xmlns:p14="http://schemas.microsoft.com/office/powerpoint/2010/main" val="890644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AF089-2D93-47F1-8ED5-F4B7307C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CURRENT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BBA3D-FBDF-4BE7-95AB-D7A0AED6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募集は『定時のきっかけ』と『ユーザー発の即時性』を両立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615A3-D79B-434C-A782-7D8B6ECA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965E9-72C1-4496-9E70-1D44E47D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BD0C5-ED5B-46A4-8DE0-93412FE2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定時・興味登録型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F291D-52D5-459A-B402-C3D30364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JST 0:00基準の30 / 45 / 60分間隔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kokuchi実行日の20:00〜21:59は停止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参加・取消し・興味人数しきい値をボタンで受付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2人以上で一時ロールと集合通知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フォローアップと未成立時の次枠更新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8D8C1-7152-49E7-B4FA-9E122604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常設・匿名ボタン募集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76FAC-CAF5-4485-970E-61983991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掲載終了、予定通話時間、@通話、ひとことを指定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作成者名と参加者一覧を公開しない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即時募集は確認猶予後に成立判定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定時募集との統合、作成者取消し、期限終了を回収</a:t>
            </a:r>
          </a:p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• VCに2人入るとステータス処理へ連携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B2AA3-873B-4471-9244-E71CD174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090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123825" rIns="152400" bIns="952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C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C7C54"/>
                </a:solidFill>
                <a:latin typeface="Yu Gothic"/>
                <a:ea typeface="Yu Gothic"/>
                <a:cs typeface="Yu Gothic"/>
              </a:rPr>
              <a:t>共通基盤：MongoDB上のclaim、世代付きロール回収、起動時のタイマー復元、重複通知を避ける“結果未確認”状態。</a:t>
            </a:r>
          </a:p>
        </p:txBody>
      </p:sp>
    </p:spTree>
    <p:extLst>
      <p:ext uri="{BB962C8B-B14F-4D97-AF65-F5344CB8AC3E}">
        <p14:creationId xmlns:p14="http://schemas.microsoft.com/office/powerpoint/2010/main" val="1772222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A2B70-496A-4B07-9FA9-01B2DD8D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CURRENT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4283E-13B9-4E63-B366-16ECD3E0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会話前後の補助機能が、関係づくりを支える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92DD6-C4B9-4AD7-AC08-3ED5706C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BBD17-A38D-433E-B013-E03ED25F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CURRENT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36F13-DE5C-4DAC-93E8-96B180D7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73BA3-3AF4-4ECB-A0C0-C3414AA4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自己紹介を再利用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13732-100C-4EA5-B5CE-36EE4BE6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登録パネル → モーダル保存 → 公開チャンネル投稿。VC参加時にもプロフィールを提示し、編集・再公開を安全に処理する。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77236-9D30-4FB2-9615-3BE78762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4D2EB-CF20-4725-8F69-B4A5D149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0500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7F930-1570-460F-B5C9-AA72037E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66950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話題と布教テーマ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96985-5DD3-475F-A6F6-2F47F4F0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71800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おすすめ話題の追加・表示・削除。子VC向け話題パネル。週替わり布教テーマは月曜6:00 JSTに自動投稿し、一巡まで重複を避ける。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BC5B3-9593-4E82-A07A-8461D1E9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9AACB-2496-4B25-AEE1-B9700C8C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11A28-9AA3-468B-82E6-734F31CF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運営への声を集約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84FEF-3BA6-45EC-81F7-368BF11F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話題提供、提案・要望、相談・苦情の3フォームを固定設置。会話練習会の感想は運営転送と質問別集計を持つ。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49810-7C10-4F47-86CB-21417AF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その他：DISBOARD bump検知 → 2時間後リマインド / VC名・人数制限・ステータス変更 / 個人別の退出予定通知</a:t>
            </a:r>
          </a:p>
        </p:txBody>
      </p:sp>
    </p:spTree>
    <p:extLst>
      <p:ext uri="{BB962C8B-B14F-4D97-AF65-F5344CB8AC3E}">
        <p14:creationId xmlns:p14="http://schemas.microsoft.com/office/powerpoint/2010/main" val="5014910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D51C0-5556-4B83-8A41-D4FA1B0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CURRENT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A7764-9519-47F3-94B4-13390CC6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未参加者フォローと運用監視まで、自動化の範囲が広い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0DE13-ACC6-4D49-AFFD-5C86B085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7F9BA-0298-459D-9C48-C49F05DF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VC DM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20801-C695-4E25-A02D-908C0763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再参加を促す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E7DF4-FF0C-4309-8875-BEE0112B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加入7日未参加・30日長期不参加をJST 17:00に判定。対象/除外VC、管理パネル、手動除外、イベント30分前リマインダーを備える。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8046D-EE4D-41DD-8DB3-BD8DD550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5927B-9729-4729-B4A3-21F08BAE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0500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7E170-77EC-450C-89B5-3F967618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66950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異常を可視化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F74CD-67FF-4CBF-A44D-B186A4C0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71800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3 Embedの運用ボード、更新・詳細・管理操作、重大度6段階。Discord、MongoDB、復旧、終了状態を /health へ返す。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AA632-D6D4-436D-8E9B-908AD2EE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12D8B-9EE5-4431-AE09-E244E993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0500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DC266-34C1-4804-87EB-E6DDC84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3381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失敗時に戻せる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FAEDF-0F2A-4A12-9260-BE2F6494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33813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Discordログ＋コンソールログ、Graceful shutdown、失敗状態の再試行、管理者による集合VC権限復元やイベント強制終了を提供。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6EF3E-8E89-41CB-82CD-F8120DC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C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C7C54"/>
                </a:solidFill>
                <a:latin typeface="Yu Gothic"/>
                <a:ea typeface="Yu Gothic"/>
                <a:cs typeface="Yu Gothic"/>
              </a:rPr>
              <a:t>運用思想：副作用の前に永続状態を確保し、成功・失敗・結果未確認を区別して、再起動後も安全に再収束させる。</a:t>
            </a:r>
          </a:p>
        </p:txBody>
      </p:sp>
    </p:spTree>
    <p:extLst>
      <p:ext uri="{BB962C8B-B14F-4D97-AF65-F5344CB8AC3E}">
        <p14:creationId xmlns:p14="http://schemas.microsoft.com/office/powerpoint/2010/main" val="4968268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C5DB82-685E-49EB-B785-DB3F45B1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ENGINEERING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A83B0-1DA6-403F-AE46-BA02E978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信頼性設計は、このBotの最も成熟した部分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ECDEF-7719-46CB-BEFC-43B9C73A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7815A-6CEF-4588-8E26-F2E29AE2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905DF-4911-4BF4-94A1-3321AC3E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MongoDBリース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4C895-189D-4ECE-80CA-06627668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ギルド・イベント・ユーザー単位で競合する副作用を一つに絞る。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2C9E8-C031-4C05-9A22-04ECFAA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A9158-EA53-4C9B-9BBA-10BFBB42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145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8E99B-B680-4F56-B889-64B91BD0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6764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所有権付きロール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AB422-7E36-4445-8864-A8BD22B7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38375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どのセッションが付けたロールか保存し、別機能のロールを誤解除しない。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473E2-799F-4B49-8E66-7E079C3C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432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B01F2-752A-43EC-9ADA-AABAAFB1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32781-627D-40F6-A4A1-6F5EBDCD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24275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結果未確認を保持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2F622-4FD0-4C07-B723-2E833E1B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送信成功が確定できない場合、安易な再送で重複通知を起こさない。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7507F-15DC-4235-AC07-7505F5E2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1EF16-16F8-42A4-8E53-698D263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62375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2B460-0F63-4E63-934D-384655C4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724275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起動時復旧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E4955-BA15-48D3-A5B2-5E707A84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86250"/>
            <a:ext cx="476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予約、待機VC、告知権限、感想転送、DM、退出予定を個別に復旧する。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3AA9B-27D0-4C5D-A411-2E46ECB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191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5F54C-BE4F-4FCA-84B6-32FF3A80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66675" rIns="152400" bIns="66675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7C54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C7C54"/>
                </a:solidFill>
                <a:latin typeface="Yu Gothic"/>
                <a:ea typeface="Yu Gothic"/>
                <a:cs typeface="Yu Gothic"/>
              </a:rPr>
              <a:t>テスト224件は、正常系よりも競合・中断・復旧・補償の境界を重点的に検証している。</a:t>
            </a:r>
          </a:p>
        </p:txBody>
      </p:sp>
    </p:spTree>
    <p:extLst>
      <p:ext uri="{BB962C8B-B14F-4D97-AF65-F5344CB8AC3E}">
        <p14:creationId xmlns:p14="http://schemas.microsoft.com/office/powerpoint/2010/main" val="5419984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813DA-BA62-4E02-8DB3-A18EF7D1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ENGINEERING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D833E-6234-478B-AF88-D316B646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操作面は豊富だが、設定の認知負荷も大きい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1CD56-4C39-440E-B01A-DEE6EEF8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6A9BF-8DD8-451E-8BF2-E62EAA19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32D2F-E870-45EF-BB93-44BDB019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登録済みスラッシュコマンド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0F65F-B21C-48B5-AD26-65E09430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E3DCC-11D9-4C64-ABE4-044A9FA5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/setting サブコマンド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F6FBF-87A7-4A21-A571-58565EA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1E2AF-07C0-49D6-8DF6-F53F5458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66875"/>
            <a:ext cx="3238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/splitvc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/kokuchi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/sendcallwait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/setup-profile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/setupforms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/botstatus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/remove role</a:t>
            </a:r>
          </a:p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/show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D598C-A1B2-4311-8601-5FEF7E79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66875"/>
            <a:ext cx="3905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/add・show・delwadai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/add・show・del・sendfukyo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/setting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 splitvc / zatudan / kokuchi / vc_dm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 logs / forms / callwait / status_board</a:t>
            </a:r>
          </a:p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 vc_control / fukyo / profile / show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6DEC2-F5F6-4404-B464-939813B3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課題：利用者向け・運営向け・復旧向けの操作が同じコマンド面に並び、設定依存関係を理解しづらい。</a:t>
            </a:r>
          </a:p>
        </p:txBody>
      </p:sp>
    </p:spTree>
    <p:extLst>
      <p:ext uri="{BB962C8B-B14F-4D97-AF65-F5344CB8AC3E}">
        <p14:creationId xmlns:p14="http://schemas.microsoft.com/office/powerpoint/2010/main" val="3498844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DE002-84E4-4E5F-8EB1-24B2E95A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84800-DA0B-4C6C-8BF4-A48169D2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問題①：機能追加のたびに、巨大モジュールの変更リスクが増える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1CC2F-FAFE-4323-91B5-F6AF6DEF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52863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61c3c69c07473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7AC1B-3EFC-461E-B832-01E3ED0C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依存関係の肥大化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67E21-5B84-4B80-AA24-9FC88CB4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43125"/>
            <a:ext cx="504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bot.jsから巨大なdependency bagを注入。変更影響が読みづらい。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A334C-5C83-47AD-9157-0EC5851F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384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2C41D-1C94-4427-92BB-3D25A29A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契約が暗黙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CFC54-F8AE-44C4-82B9-1534588B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504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Plain JavaScript＋strict:false設定スキーマで、型・設定項目の不整合を早期検知しにくい。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E3EFE-6F40-47F2-9FC9-DEE6A7EA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195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4B26E-991B-49A1-906C-73CC73CA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文書との乖離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201B7-D570-46D0-8BE6-7389EA9B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05375"/>
            <a:ext cx="504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package説明はVC分割のまま。READMEは64KB超で、機能の全体像が埋もれる。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BFDA0-DF89-44BE-8824-EB51EFDB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007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121423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65DB7-F35C-4255-A72B-A8CFBC00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B5501-0459-458B-85D5-6EB1DF6D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問題②：復旧は強いが、運用規模が上がるほど複雑性が効いてくる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52437-D513-4223-A509-445AE0DE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E0630-ED82-4A0D-A96B-7FA9113C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5334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14D51-8B5F-4169-934D-9B4A9AB5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76425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DBが必須の単一障害点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9A26A-2C5D-47E0-8582-2009B2E9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MongoDB接続に失敗するとBotは終了する。読み取り専用・縮退運転はない。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52F89-1309-4F08-BFDE-3D1767DE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666875"/>
            <a:ext cx="5334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2CD74-7043-494B-A9E4-E2504B4F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76425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永続＋メモリの二重管理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F58B2-B175-4B84-A2EA-E66C0B32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09825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56箇所のタイマー呼び出しと多数のMap/Setを、起動復旧で再同期する必要がある。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E3658-BEA7-49E1-81CF-59052960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5334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F416A-175C-4526-A536-DDCCB418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ポーリングと全件走査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AD142-1B64-480B-BDEC-CF176D14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待機VC監視、日次DM、復旧処理が増えるほどDiscord APIとDB負荷が線形に増えやすい。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31E2A-1296-4FD6-AA16-0A8F29BF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62375"/>
            <a:ext cx="5334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E9CA9-E472-4E81-AAF6-845C6E88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71925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観測性が限定的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CB73F-9848-408D-9FB2-605D02CF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505325"/>
            <a:ext cx="485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/healthは可用性を返すが、処理時間・滞留・失敗率・rate limitの指標はない。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03278-FC54-44F1-B54A-2F2775D1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B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8B00"/>
                </a:solidFill>
                <a:latin typeface="Yu Gothic"/>
                <a:ea typeface="Yu Gothic"/>
                <a:cs typeface="Yu Gothic"/>
              </a:rPr>
              <a:t>補足：MongoDBリースにより多重副作用は抑制されるが、シャーディング・ジョブキュー・バックプレッシャーの明示設計はまだない。</a:t>
            </a:r>
          </a:p>
        </p:txBody>
      </p:sp>
    </p:spTree>
    <p:extLst>
      <p:ext uri="{BB962C8B-B14F-4D97-AF65-F5344CB8AC3E}">
        <p14:creationId xmlns:p14="http://schemas.microsoft.com/office/powerpoint/2010/main" val="20076937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A949E-959E-4465-9F32-F8BC2591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PROBLEMS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09EA-6F80-4097-AC68-B1B9FB70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問題③：UX・権限・データ配慮が拡張に追いつかない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98D4E-F789-4ACB-8C10-3F4CE386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41B7A-7059-4FE5-94EA-54EF8265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B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8B0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4AB38-EB58-421E-BF3F-527779E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430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設定UX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A9475-3083-49F8-BCCD-20042BAB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4305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12個の設定入口と多数の依存チャンネル/ロール。誤設定を事前診断するウィザードやdry-runがない。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DD0DC-2550-4F1B-8234-1376A426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8952D-E3F1-4216-8FC2-4CCCB601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B00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8B0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6FF34-7E51-443C-9DAA-ABCF0962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権限UX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A65A0-CDCC-4E2E-8C00-FF2F9A2F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実行時チェックはあるが、コマンド既定権限は一部のみ。利用不能な操作が見える場面や、高権限Botの設定ミスが起こりうる。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279AE-83FC-4A08-AACF-F4CEC1EC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2FBD7-07B1-4100-84B3-8B7917E7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CF352-AE9A-4711-ABEA-0A28AEED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個人データ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B7E51-2E60-4AB0-BB73-B74093EB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9095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プロフィール、参加履歴、DM判定、感想を保持するが、利用者自身の同意・確認・エクスポート・削除・保持期限が見当たらない。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A76C3-4E04-4CCB-9C3C-AD6D1DCA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D07AE-7C6D-4AE6-957A-423521C4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ADA14-B156-4CEF-8AB4-37E7B0AA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品質の見え方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A6C6D-777D-4F46-875C-D0AD02F6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149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日本語固定で、一部コマンド説明4箇所とテスト名2箇所に文字化け。CIやステージング構成もリポジトリにない。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2E85A-5ECC-41D5-8C3A-AA0EAD99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245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03566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CD725-DAF2-43FE-AE8B-7B3467D2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6789A-10C0-4709-803D-33B1E01A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次の30機能は『増やす』前に、持続可能な運営へ寄せる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97AA8-9262-4EB5-85B7-E525A353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536B2-62D3-4999-A043-42FEB4AB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381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追加候補の優先基準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D4DD3-3F59-4956-9279-12AFC67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524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84EEC-797B-4D3F-A3AE-81ED9D53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717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参加率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B30B3-296D-4AE5-9C01-75D116B3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初参加・再参加・成立率を上げる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F2C8C-861E-4E9B-8B07-785F9A9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524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7B7A4-F311-49CF-86FC-790A5CD1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運営時間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56FD5-AE29-46FA-98DC-67964F26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86125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設定・確認・復旧の手作業を減らす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84B0E-B55B-403D-9FB1-FE3C9411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3524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20650-0ACA-4697-BA6E-61548D0F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7175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事故半径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37E00-E23D-4279-9333-321EF191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86125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誤送信・重複・権限・データ事故を小さくする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57AC0-C09B-46BC-9528-2A9065C9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5領域 × 6機能 = 30機能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F818E-73CD-4070-A73F-4C1C4522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参加者体験 / 運営効率 / 安全性・信頼性 / 分析・成長 / 開発基盤</a:t>
            </a:r>
          </a:p>
        </p:txBody>
      </p:sp>
    </p:spTree>
    <p:extLst>
      <p:ext uri="{BB962C8B-B14F-4D97-AF65-F5344CB8AC3E}">
        <p14:creationId xmlns:p14="http://schemas.microsoft.com/office/powerpoint/2010/main" val="14785150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FB45B-3715-4934-9C9E-C267323B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30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B8E44-E65E-4DDD-9D91-C837BAA3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追加01–06：参加者が迷わず、安心して参加できる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87AD6-5F11-4101-97C4-C3D7AC1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424C3-79BE-463D-917E-20626982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F3B15-06FA-4F65-8F61-3C2782C5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役割別インタラクティブヘルプ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096F3-BD79-4F0D-95A9-52E06621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自分が使える操作だけを表示し、16コマンドの探索コストを下げる。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554F6-2071-4E80-B1CE-282031F4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10326-5B21-4C14-AAA9-D05B4988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1393D-1CC6-4405-84DB-06A62E05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初参加オンボーディング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E4D2A-E636-47A4-931D-1F01E3A8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プロフィール・通知設定・イベント参加までをチェックリスト化し、初回離脱を防ぐ。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DF491-6FF9-49CA-B9BB-F300416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882E4-BEBE-4638-92A0-39CEEE06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69A98-30CB-4732-9F6E-6F4A15A6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RSVP・待機リスト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E8C74-32B6-4020-BBB1-D4B770EA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事前参加表明と定員超過時の繰上げで、当日の人数不足・過密を減らす。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6D7A5-3C0D-4D92-AA66-B4DE3FC1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3AE82-531D-4E54-B9BB-44C025DE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99B81-F34B-4261-8C70-6C461951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希望ベースのマッチング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9EC00-C719-401E-A0DD-A51EA7C7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話題・年代・会話量など任意タグで、ランダム以外の居心地よい組合せを選べる。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84D32-6A13-4EA7-9335-F7814965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5454C-CA68-4422-9CC9-78BB58E7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58428-687B-45F1-AF1D-AD9F5EBB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通知プリファレンス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948F1-F939-4793-B230-AE85B93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DM/チャンネル、頻度、静音時間を本人が選べ、通知疲れとブロックを減らす。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F0B00-9CFC-4F88-AFE4-AA124AB4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FD722-E23E-4134-A875-C4502F29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1593C-203A-44F0-99E0-986D8D68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個人データ・同意センター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BD8506-9A58-4486-83AB-4F499954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保存内容の確認、同意変更、エクスポート、削除を自己完結させる。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96021E-5468-4E65-9BD9-DFD12311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8709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5B8764-D394-42A4-9DD1-DE729F52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30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A8B70-D957-4670-8EE5-19C1B433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追加07–12：運営の設定・告知・復旧を短時間で回す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5F963-C80A-4EC0-BAA9-7AEA7855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A0B1F-3908-4C88-9928-53564839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D886B-C486-4605-98A6-41F3F31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Web管理ダッシュボード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10310-95A9-43FD-AD74-0772D81A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Discord上の長い設定操作を、状態一覧・検索・権限付き編集へ置き換える。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8044C-96B4-4C2B-B0ED-9B4245B3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B5B12-0B48-4020-83F0-96D76876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BDE16-BDD5-48E7-BDBC-06DB7EB2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セットアップ診断 / dry-run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3B76A-4B7B-4922-8C23-FDD7C2A2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Bot権限、チャンネル、ロール階層、送信可否を副作用なしで事前確認する。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CCFDD-0D02-4A90-8C14-F6B2E1D6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8BF69-85DC-43BA-8CE3-BA3A5CD7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9789C-C820-4922-B402-3AF7F4DD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イベントテンプレート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1DDA5-E3DC-4005-AE94-6D727C34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告知文、時間、ロール、VC、終了処理を再利用し、開催準備を数クリックにする。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6C420-19DC-4698-9646-7B57C05F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60B76-4EF6-463E-BB1E-40496F84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8F33C-A5CD-4AFA-93A4-2FF5D4FF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繰り返しカレンダー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233EF-4D93-44F1-8FFA-15B26855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毎週・隔週・例外日・休止を正式管理し、曜日計算と手動予約を減らす。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56AA8-E247-4350-84EB-B8EF2309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46C2C-CC21-464D-9E8A-AB0F7EB9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B6EB3-85F1-4E25-85E0-BD05BB37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告知・フォーム承認フロー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257B4-86D9-4EAF-AF46-B5F709B1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作成→プレビュー→別スタッフ承認→公開で誤送信と属人運用を減らす。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2150F-BDAE-41FC-B1FB-E16EEFB7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09CAE-3A04-434F-B8FC-93991F9D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0566C-F89B-4E08-B713-8CF1E93C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設定履歴・差分・ロールバック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D4667-A53A-4491-AB39-2D9D1ECA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誰が何を変えたか残し、壊れた設定を直前版へ戻せるようにする。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1F0739-C197-4FAA-88BB-CFB760A9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88842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7365A-FC73-4CAD-BA35-51B07E66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30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07BCE-746E-457B-818D-AB2AEA6B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追加13–18：事故と失敗を運営可能にする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6F7AE-69CD-4F82-B198-14E98830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EA6FC-4EC3-4B4F-B2AD-F2A8E82D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21D39-3011-4756-91AD-3DE65E2B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モデレーション案件管理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7CA71-BADC-4737-891D-14F606B2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相談・苦情を担当、状態、期限、非公開メモ付きのケースとして追跡する。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02A58-0F42-40CA-BA8D-C626C326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CBE71-DFF7-4542-BEFE-DEA38640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7AFA8-5E29-439B-807B-B9B79260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細粒度の運営ロール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44FA8-6EE4-479B-9485-1DD51591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設定・告知・復旧・閲覧を分離し、Administrator依存と権限過多を減らす。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137AA-3FFB-4EC5-AA0F-ACDBED60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F8143-FDBC-45D5-A50B-8CD8991F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584AC-F55C-456A-AC29-554E5616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永続ジョブキュー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78B33-CC37-47E4-B9D7-41CA1776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タイマーを再実行可能なジョブへ寄せ、再起動・水平分割・負荷制御を単純化する。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AFAFD-A67D-4D3C-BB21-54432AFF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48D0A-7303-45DE-BCF8-F2B0DDC9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79F9E-6B7E-415E-A876-8D1D905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Dead-letter / 手動Replay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60859-C28C-4171-A013-34FFA485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自動再試行を超えた失敗を一覧化し、安全な条件で再実行できるようにする。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E9320-044A-4043-9E0C-1B7CC397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B688B4-ADE6-45CA-961C-69C96C2E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C7666-9356-48F9-8EA1-427E5D62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バックアップ・移行CLI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83D6E-D51D-40B5-A16D-3D86DE3E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設定、予約、プロフィール等を検証付きでバックアップ・復元・スキーマ移行する。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FC759-3C79-4DE9-9262-222DC1B1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0C2E5-B212-4C20-8E90-03611DA6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816AF-E5D5-433E-9F80-C9AD6A0F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Rate-limit対応ディスパッチャ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9D3FC-F829-40AA-A60A-4945EEED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Discord APIの優先度、バックプレッシャー、複数インスタンスの送信順序を統制する。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B5A03-2170-47A5-8D31-C4E80974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74483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0A3140-98FE-41CB-968D-4A5B4457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30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503C8-C506-431C-B9DC-2D38E160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追加19–24：参加データを、改善の意思決定へ変える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DAD6B-5CF4-4F6B-84AF-DF10175F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24062-ADF3-4925-8785-13E71433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F2C7D-34FD-43D0-94EF-34923D71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参加ファネル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C6C3A-E30E-4875-87AA-7819CD07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告知閲覧→RSVP→VC入室→完走→再参加を可視化し、離脱箇所を特定する。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D17A2-165F-465C-82CE-E73E5045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21C1B-9B73-4E85-82F4-63F8AB6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A5A78-456C-45FF-8890-9E0F1251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継続率・コホート分析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5063D-EA68-46E6-9AB7-9FED2E21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初参加月や参加経路別に再参加率を追い、DMや募集の長期効果を判断する。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338E-F904-47F9-84E8-CA2A628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BAE42-4531-4256-8183-47A68CBC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47ECA-5926-40FA-9EAB-8798FE67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グルーピング品質指標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F1786-A22A-43EB-A2EC-97193E56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重複ペア、公平性、会話量、満足度を結び、500候補評価の目的関数を改善する。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3A1BF-9864-4926-A287-1AD8831F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D4AB8-43B6-466A-B06A-C3BB7DC0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0B4ED-56FB-4035-A0B6-CC6CDFCA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感想トレンド・異常検知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0F55E-C3FA-4910-9FCF-81B10EF9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質問別推移と自由記述テーマを集約し、悪化時に運営へ早期通知する。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C7C25-5665-494B-A3AE-DBB00919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291C3-914C-4F69-ABCB-50A5AD8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3B96B-6FFB-46B5-9296-9AD5E709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募集コンバージョン分析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9D10F-C08B-47A6-B3F1-2C8EBE3D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曜日・時刻・募集種別・文面別に成立率を比較し、最適な募集枠を提案する。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BB66A-80A1-42F1-8FA9-6164BCB1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8C075-DBB6-4C75-BB0D-13CDEB24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4E0940-57A7-4FFA-AFA8-64B78801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自動アフターレポート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13269-3F35-433A-B116-378F3131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参加人数、成立率、感想、失敗、改善候補をイベント終了後に運営へ要約する。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A6E7D-4EB1-4966-A2FF-454D6803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83092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9231A-64BA-4FC9-A48D-3CC558D4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30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FA496-6E1D-43D2-A010-9CFA898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　追加25–30：機能追加速度を支える開発基盤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F8D59-4DE5-4ABA-855F-88BFDE65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F6CD1-1B8A-4376-984E-EB0B7C5A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5EC9A-96AC-4EEB-A3BA-0AB74A98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ギルド別Feature Flag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D5AA0-B110-4774-A17F-22827C23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新機能を限定サーバーで段階公開し、ロールバックと比較検証を安全にする。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079D0-6828-4EDA-9AFD-0A98A988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F8A44-32B8-414E-A596-6BC9D22E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2400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AC1E3-E279-4845-890E-EE7E6E49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50495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内部イベントバス / Plugin境界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8BE2E-CF4D-4971-8958-CD62555D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4785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募集・告知・分割・DMの連携を疎結合化し、巨大dependency bagを解消する。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AB6A5-7688-4307-8E8D-52CFA7B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5745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86981-E80B-4DDD-ACA7-C8638B5F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83400-05EF-4EE8-AC9D-03F4A875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TypeScript＋設定スキーマ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0BEAE-B0B5-4332-BEE3-43D2F168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コマンド、設定、DB状態の契約を型と実行時検証で統一し、暗黙不整合を減らす。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B6E03-A034-435B-863F-5A5C46C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2E3E6-4549-4210-89B4-8AB5EBD9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146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503EF-2071-47B3-ADE7-F7BD642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95625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i18n・アクセシビリティ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F11B4-6486-4F68-83F8-5545090B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38525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日本語固定文面を辞書化し、読み上げ・短文・多言語・時刻表記へ対応する。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AE55B-5C7E-46CE-82E6-47D8DAC7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481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27EFB-C7A7-46B0-ABA9-EA2C89A5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C63C45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5BF3F-4F55-4D6B-8475-AF31B11E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CI/CD＋ステージング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5F47E-D931-42A5-90E6-37DAB399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テスト、文字化け検査、コマンド差分、DB移行、カナリア公開を自動化する。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47FB7-4FE5-4322-9F3F-2B89DEDB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BA39BE-D953-491D-A31E-B3796C57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053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E2FCC9-021C-451B-856C-1560DD91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86300"/>
            <a:ext cx="4772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Metrics / Trace / Alert / SLO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EF4298-26AB-46BB-8FB2-1901C8E0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29200"/>
            <a:ext cx="4772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失敗率、遅延、ジョブ滞留、rate limit、復旧時間を測り、障害前に気づけるようにする。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5C8765-DDEE-4C3C-AF1D-0964B45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638800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64504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70405-1B79-444D-8277-37146066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RECOMMENDED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98E-433A-460C-9D8F-1397F9A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実装順は『安全に変えられる基盤』から始める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3FE65-7EA9-4F02-BF2B-AEB592E8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C2441-0C47-426D-A35E-1352FF22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0–4週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AA0AA-163B-4D06-887C-F009DA8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BFB68-B3B3-4F5F-AA42-C1817815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1666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止血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86FC2-3B25-4650-99C7-04FD7C87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文字化け修正 / 設定診断 / CI / 監視指標 / 個人データ方針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1672C-2540-484E-8E1E-175E2A1C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61925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1–3か月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A7D82-8975-439A-8AF6-B3BE7172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4312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C6856-C623-4DEE-B2AD-61C9B9B5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76475"/>
            <a:ext cx="1666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構造化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E5E03-AAD4-4F01-95A4-196E3BC9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95625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TypeScript・スキーマ / Feature Flag / 設定履歴 / ジョブキュー基盤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FFF53C-357C-48E9-8A5F-B4EF074D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3–6か月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99B81-9F43-47A7-9C84-79261D1F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0C7DB-ED6F-4775-9A05-01C3801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76475"/>
            <a:ext cx="1666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運営効率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345E7-F983-4CB9-9529-D7BC7005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Web管理 / テンプレート / カレンダー / 承認 / Dead-letter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9E30E-805F-4C4E-BDF4-6A36784D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61925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6–9か月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B0DBE-5D09-4B1B-AC60-444114BB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4312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40E34-2846-489E-AB6B-0C9A1D9F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76475"/>
            <a:ext cx="1666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参加体験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66487-A1BA-4406-8FC7-AD9109E9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95625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ヘルプ / オンボーディング / RSVP / 通知設定 / 希望マッチング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387CC-39CE-414E-947E-0764B8DB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1925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9–12か月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734EA-8A14-43F2-8A31-22C48ED6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43125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F20D3-C7FD-444C-B0BB-54F0DD2C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76475"/>
            <a:ext cx="1666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学習ループ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479564-1E97-4381-88CF-9062114A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95625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ファネル / コホート / 品質指標 / 感想分析 / 自動レポート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EC9AC-B1AA-47B3-9EC4-140AB4CF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28925"/>
            <a:ext cx="11058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C180C-AA1C-4626-8AF8-62564439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判断ゲート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1470AB-757D-4F51-BD63-51483F45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各フェーズで ①障害率 ②運営作業時間 ③参加/再参加率 ④データ事故ゼロ を確認してから次へ進む。</a:t>
            </a:r>
          </a:p>
        </p:txBody>
      </p:sp>
    </p:spTree>
    <p:extLst>
      <p:ext uri="{BB962C8B-B14F-4D97-AF65-F5344CB8AC3E}">
        <p14:creationId xmlns:p14="http://schemas.microsoft.com/office/powerpoint/2010/main" val="18725912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26724-6508-47CB-B4FA-145A5023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A579B-2D6F-4BC4-9042-E61BF066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525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次に作るべきは、</a:t>
            </a:r>
          </a:p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“もう一つの機能”ではない。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F24CD-1ACD-451A-AAC0-BEDD118C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028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安全に機能を増やせる基盤と、参加・運営の成果を測る仕組みを先に整える。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CC341-3423-481B-ACB7-C49E5456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現状の強み：復旧・冪等性・会話運営の一気通貫</a:t>
            </a:r>
          </a:p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最優先課題：構造化・設定UX・データ配慮・観測性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10088-789D-4235-AA07-12B18283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15049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36A53-3E11-465D-BE1A-BED4D012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1398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2026-08-07T23:35:14.7760000Z</dcterms:created>
  <dcterms:modified xsi:type="dcterms:W3CDTF">2026-08-07T23:35:14.7760000Z</dcterms:modified>
</coreProperties>
</file>
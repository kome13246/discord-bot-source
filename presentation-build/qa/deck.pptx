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0c46efca13455b" /><Relationship Type="http://schemas.openxmlformats.org/officeDocument/2006/relationships/extended-properties" Target="/docProps/app.xml" Id="Ra0e6bfd27e3c41e6" /><Relationship Type="http://schemas.openxmlformats.org/officeDocument/2006/relationships/officeDocument" Target="/ppt/presentation.xml" Id="Rcba2f0b05bc64e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033738d26f4327"/>
  </p:sldMasterIdLst>
  <p:notesMasterIdLst>
    <p:notesMasterId xmlns:r="http://schemas.openxmlformats.org/officeDocument/2006/relationships" r:id="Red01ffc0faf64d4c"/>
  </p:notesMasterIdLst>
  <p:sldIdLst>
    <p:sldId xmlns:r="http://schemas.openxmlformats.org/officeDocument/2006/relationships" id="256" r:id="R2c43811b1f3e4a37"/>
    <p:sldId xmlns:r="http://schemas.openxmlformats.org/officeDocument/2006/relationships" id="257" r:id="R1685f27b13d0426f"/>
    <p:sldId xmlns:r="http://schemas.openxmlformats.org/officeDocument/2006/relationships" id="258" r:id="Rcd3be9f4567445a7"/>
    <p:sldId xmlns:r="http://schemas.openxmlformats.org/officeDocument/2006/relationships" id="259" r:id="Ra139ed4263634f51"/>
    <p:sldId xmlns:r="http://schemas.openxmlformats.org/officeDocument/2006/relationships" id="260" r:id="Re172e6e739284aef"/>
    <p:sldId xmlns:r="http://schemas.openxmlformats.org/officeDocument/2006/relationships" id="261" r:id="R8ecc25c0bd424279"/>
    <p:sldId xmlns:r="http://schemas.openxmlformats.org/officeDocument/2006/relationships" id="262" r:id="R4c0906e2184c43dc"/>
    <p:sldId xmlns:r="http://schemas.openxmlformats.org/officeDocument/2006/relationships" id="263" r:id="R0ffe5b99bf8b4de4"/>
    <p:sldId xmlns:r="http://schemas.openxmlformats.org/officeDocument/2006/relationships" id="264" r:id="R90e45ff8a8984958"/>
    <p:sldId xmlns:r="http://schemas.openxmlformats.org/officeDocument/2006/relationships" id="265" r:id="R0696d1ac3dfe476f"/>
    <p:sldId xmlns:r="http://schemas.openxmlformats.org/officeDocument/2006/relationships" id="266" r:id="R31c687df4d2741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63b34738984668" /><Relationship Type="http://schemas.openxmlformats.org/officeDocument/2006/relationships/slideMaster" Target="/ppt/slideMasters/slideMaster1.xml" Id="Re2033738d26f4327" /><Relationship Type="http://schemas.openxmlformats.org/officeDocument/2006/relationships/notesMaster" Target="/ppt/notesMasters/notesMaster1.xml" Id="Red01ffc0faf64d4c" /><Relationship Type="http://schemas.openxmlformats.org/officeDocument/2006/relationships/presProps" Target="/ppt/presProps.xml" Id="R00d04fd0fa184b1d" /><Relationship Type="http://schemas.openxmlformats.org/officeDocument/2006/relationships/tableStyles" Target="/ppt/tableStyles.xml" Id="R5bb6d0da9f4b4d68" /><Relationship Type="http://schemas.openxmlformats.org/officeDocument/2006/relationships/slide" Target="/ppt/slides/slide1.xml" Id="R2c43811b1f3e4a37" /><Relationship Type="http://schemas.openxmlformats.org/officeDocument/2006/relationships/slide" Target="/ppt/slides/slide2.xml" Id="R1685f27b13d0426f" /><Relationship Type="http://schemas.openxmlformats.org/officeDocument/2006/relationships/slide" Target="/ppt/slides/slide3.xml" Id="Rcd3be9f4567445a7" /><Relationship Type="http://schemas.openxmlformats.org/officeDocument/2006/relationships/slide" Target="/ppt/slides/slide4.xml" Id="Ra139ed4263634f51" /><Relationship Type="http://schemas.openxmlformats.org/officeDocument/2006/relationships/slide" Target="/ppt/slides/slide5.xml" Id="Re172e6e739284aef" /><Relationship Type="http://schemas.openxmlformats.org/officeDocument/2006/relationships/slide" Target="/ppt/slides/slide6.xml" Id="R8ecc25c0bd424279" /><Relationship Type="http://schemas.openxmlformats.org/officeDocument/2006/relationships/slide" Target="/ppt/slides/slide7.xml" Id="R4c0906e2184c43dc" /><Relationship Type="http://schemas.openxmlformats.org/officeDocument/2006/relationships/slide" Target="/ppt/slides/slide8.xml" Id="R0ffe5b99bf8b4de4" /><Relationship Type="http://schemas.openxmlformats.org/officeDocument/2006/relationships/slide" Target="/ppt/slides/slide9.xml" Id="R90e45ff8a8984958" /><Relationship Type="http://schemas.openxmlformats.org/officeDocument/2006/relationships/slide" Target="/ppt/slides/slide10.xml" Id="R0696d1ac3dfe476f" /><Relationship Type="http://schemas.openxmlformats.org/officeDocument/2006/relationships/slide" Target="/ppt/slides/slide11.xml" Id="R31c687df4d2741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918310e3f149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27118f3a6a4e2c" /><Relationship Type="http://schemas.openxmlformats.org/officeDocument/2006/relationships/notesMaster" Target="/ppt/notesMasters/notesMaster1.xml" Id="R081dfca79c834b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1fd3372af24955" /><Relationship Type="http://schemas.openxmlformats.org/officeDocument/2006/relationships/notesMaster" Target="/ppt/notesMasters/notesMaster1.xml" Id="Re3196549f7a04b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67f6e5cf244ca2" /><Relationship Type="http://schemas.openxmlformats.org/officeDocument/2006/relationships/notesMaster" Target="/ppt/notesMasters/notesMaster1.xml" Id="Rdf359d9f125348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f4b5dafe034046" /><Relationship Type="http://schemas.openxmlformats.org/officeDocument/2006/relationships/notesMaster" Target="/ppt/notesMasters/notesMaster1.xml" Id="R2b6f0453b8b647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8d2c2be90f4f14" /><Relationship Type="http://schemas.openxmlformats.org/officeDocument/2006/relationships/notesMaster" Target="/ppt/notesMasters/notesMaster1.xml" Id="R73a0475374fd45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582bde0c5b4d3f" /><Relationship Type="http://schemas.openxmlformats.org/officeDocument/2006/relationships/notesMaster" Target="/ppt/notesMasters/notesMaster1.xml" Id="Reae858a0ea3f47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b37a7cefb9499e" /><Relationship Type="http://schemas.openxmlformats.org/officeDocument/2006/relationships/notesMaster" Target="/ppt/notesMasters/notesMaster1.xml" Id="Rb12f51ff010c4d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646094f1ec46c0" /><Relationship Type="http://schemas.openxmlformats.org/officeDocument/2006/relationships/notesMaster" Target="/ppt/notesMasters/notesMaster1.xml" Id="Rbaa344f8109c40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2a7a5d6bb8439b" /><Relationship Type="http://schemas.openxmlformats.org/officeDocument/2006/relationships/notesMaster" Target="/ppt/notesMasters/notesMaster1.xml" Id="R763e77faac0e47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f01e8e46ec426e" /><Relationship Type="http://schemas.openxmlformats.org/officeDocument/2006/relationships/notesMaster" Target="/ppt/notesMasters/notesMaster1.xml" Id="Rf949d580ba4642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b39f81ccb04196" /><Relationship Type="http://schemas.openxmlformats.org/officeDocument/2006/relationships/notesMaster" Target="/ppt/notesMasters/notesMaster1.xml" Id="R456664f211b845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この資料は、今回選定した3機能の実装内容、安全設計、最終監査、検証結果を一つの運用ストーリーとして説明します。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decisions in this Codex task: implement ranked features 4, 5, and 6; separate permission check command; reconciliation every 30 minutes.</a:t>
            </a:r>
          </a:p>
          <a:p xmlns:a="http://schemas.openxmlformats.org/drawingml/2006/main">
            <a:r>
              <a:t>- Local repository: C:\Users\yonem\Documents\GitHub\discord-bot-source\discord-voice-grouper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ユーザー指定の優先順位4・5・6を、そのまま三層の運用基盤に落とし込みました。4位は独立コマンド、5位は30分間隔、6位は設定変更の全ライフサイクルが要点です。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decisions in this Codex task: feature 4 becomes /checkbot, feature 5 runs every 30 minutes, feature 6 covers safe setup and configuration management.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3機能は独立していますが、運用上は順序があります。まず診断し、次に定期観測し、必要なときだけ管理された書き込みへ進みます。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src/features/checkbot.js</a:t>
            </a:r>
          </a:p>
          <a:p xmlns:a="http://schemas.openxmlformats.org/drawingml/2006/main">
            <a:r>
              <a:t>- Local repository: src/reconciliation-service.js</a:t>
            </a:r>
          </a:p>
          <a:p xmlns:a="http://schemas.openxmlformats.org/drawingml/2006/main">
            <a:r>
              <a:t>- Local repository: src/setup-service.js</a:t>
            </a:r>
          </a:p>
          <a:p xmlns:a="http://schemas.openxmlformats.org/drawingml/2006/main">
            <a:r>
              <a:t>- Local repository: src/configuration-service.js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管理者は /setup を始める前に /checkbot を実行できます。読み取り専用で、機能ごとに実行不能・警告・確認不能を分けて返します。DMでは登録されず、結果はephemeralです。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src/features/checkbot.js</a:t>
            </a:r>
          </a:p>
          <a:p xmlns:a="http://schemas.openxmlformats.org/drawingml/2006/main">
            <a:r>
              <a:t>- Local repository: src/settings-validation-service.js</a:t>
            </a:r>
          </a:p>
          <a:p xmlns:a="http://schemas.openxmlformats.org/drawingml/2006/main">
            <a:r>
              <a:t>- Local tests: test/checkbot.test.js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reconciliation本体は30分ごとの読み取り専用観測です。修復は別jobに分離し、allowlist、最新preflight、lease・fencing、postflightという複数のゲートを通過した場合だけ実行します。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src/reconciliation-service.js</a:t>
            </a:r>
          </a:p>
          <a:p xmlns:a="http://schemas.openxmlformats.org/drawingml/2006/main">
            <a:r>
              <a:t>- Local repository: src/reconciliation-repair-service.js</a:t>
            </a:r>
          </a:p>
          <a:p xmlns:a="http://schemas.openxmlformats.org/drawingml/2006/main">
            <a:r>
              <a:t>- Local models: src/models/reconciliation-observation.js; src/models/reconciliation-repair-job.js</a:t>
            </a:r>
          </a:p>
          <a:p xmlns:a="http://schemas.openxmlformats.org/drawingml/2006/main">
            <a:r>
              <a:t>- Local tests: test/reconciliation.test.js; test/reconciliation-repair.test.js; test/p1-p2-regressions.test.js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下書きは30分で失効し、サーバー全体で一つだけです。確定時はCAS claimの後に、選択値と保持値をDiscordへforce fetchして再検証します。途中で削除・型変更されたリソースは書き込み前に検出されます。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src/setup-service.js</a:t>
            </a:r>
          </a:p>
          <a:p xmlns:a="http://schemas.openxmlformats.org/drawingml/2006/main">
            <a:r>
              <a:t>- Local repository: src/features/setup.js</a:t>
            </a:r>
          </a:p>
          <a:p xmlns:a="http://schemas.openxmlformats.org/drawingml/2006/main">
            <a:r>
              <a:t>- Local model: src/models/setup-draft.js</a:t>
            </a:r>
          </a:p>
          <a:p xmlns:a="http://schemas.openxmlformats.org/drawingml/2006/main">
            <a:r>
              <a:t>- Local tests: test/setup.test.js; test/p1-p2-regressions.test.js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設定はMongoDB transaction内でrevision、snapshot、diff、apply jobを整合させます。rollbackは過去の値へ直接巻き戻すのではなく、新しいrevisionとして記録し、再び適用jobを通します。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src/configuration-service.js</a:t>
            </a:r>
          </a:p>
          <a:p xmlns:a="http://schemas.openxmlformats.org/drawingml/2006/main">
            <a:r>
              <a:t>- Local repository: src/features/configuration.js</a:t>
            </a:r>
          </a:p>
          <a:p xmlns:a="http://schemas.openxmlformats.org/drawingml/2006/main">
            <a:r>
              <a:t>- Local repository: src/settings-apply-service.js</a:t>
            </a:r>
          </a:p>
          <a:p xmlns:a="http://schemas.openxmlformats.org/drawingml/2006/main">
            <a:r>
              <a:t>- Local model: src/models/settings-apply-job.js</a:t>
            </a:r>
          </a:p>
          <a:p xmlns:a="http://schemas.openxmlformats.org/drawingml/2006/main">
            <a:r>
              <a:t>- Local tests: test/configuration-revision.test.js; test/settings-apply.test.js; test/p1-p2-regressions.test.js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重要な原則は、unknownを正常扱いしないことです。Discordへの副作用が始まる前だけ限定的にretryし、開始後の結果不明・lease喪失はblockedへ落として人の判断を待ちます。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src/reconciliation-repair-service.js</a:t>
            </a:r>
          </a:p>
          <a:p xmlns:a="http://schemas.openxmlformats.org/drawingml/2006/main">
            <a:r>
              <a:t>- Local repository: src/configuration-service.js</a:t>
            </a:r>
          </a:p>
          <a:p xmlns:a="http://schemas.openxmlformats.org/drawingml/2006/main">
            <a:r>
              <a:t>- Local repository: src/setup-service.js</a:t>
            </a:r>
          </a:p>
          <a:p xmlns:a="http://schemas.openxmlformats.org/drawingml/2006/main">
            <a:r>
              <a:t>- Local tests: test/reconciliation-repair.test.js; test/configuration-revision.test.js; test/p1-p2-regressions.test.js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終監査では、設定値の意味、機能間依存、保存先drift、Discord削除失敗、権限差、確定時競合、コマンド公開範囲、DB機能不足を重点的に確認しました。9つの境界条件をコードとテストの両方で閉じ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tests: test/configuration-revision.test.js</a:t>
            </a:r>
          </a:p>
          <a:p xmlns:a="http://schemas.openxmlformats.org/drawingml/2006/main">
            <a:r>
              <a:t>- Local tests: test/reconciliation.test.js; test/reconciliation-repair.test.js</a:t>
            </a:r>
          </a:p>
          <a:p xmlns:a="http://schemas.openxmlformats.org/drawingml/2006/main">
            <a:r>
              <a:t>- Local tests: test/setup.test.js; test/checkbot.test.js; test/p1-p2-regressions.test.js</a:t>
            </a:r>
          </a:p>
          <a:p xmlns:a="http://schemas.openxmlformats.org/drawingml/2006/main">
            <a:r>
              <a:t>- Final review results recorded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実装・修正は5.6-luna maxが担当し、監督役が受入条件の定義、独立レビュー、欠陥再現、再検証を行いました。関連173件、全372件、lint、diffチェックまで通過しています。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verification recorded in this Codex task: 173 related tests passed; 372 full-suite tests passed; lint passed; git diff --check passed (line-ending warnings only).</a:t>
            </a:r>
          </a:p>
          <a:p xmlns:a="http://schemas.openxmlformats.org/drawingml/2006/main">
            <a:r>
              <a:t>- Local package scripts: package.json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この時点でコードレベルのゲートは通過しています。残る不確実性は、実DiscordとMongoDB replica setを接続した統合スモークです。ここを通過すれば本番リリース判断に進めます。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review recorded in this Codex task: no unresolved major defect found in the code-level review.</a:t>
            </a:r>
          </a:p>
          <a:p xmlns:a="http://schemas.openxmlformats.org/drawingml/2006/main">
            <a:r>
              <a:t>- Residual validation limitation recorded in this Codex task: real Discord and MongoDB staging smoke test has not yet been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9fe426bef743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c407164b234795" /><Relationship Type="http://schemas.openxmlformats.org/officeDocument/2006/relationships/slideLayout" Target="/ppt/slideLayouts/slideLayout1.xml" Id="R76be72560a614b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be72560a614b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62c5b13dd475f" /><Relationship Type="http://schemas.openxmlformats.org/officeDocument/2006/relationships/notesSlide" Target="/ppt/notesSlides/notesSlide1.xml" Id="R5200ba3d66bc4c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586a4eeec4dd2" /><Relationship Type="http://schemas.openxmlformats.org/officeDocument/2006/relationships/notesSlide" Target="/ppt/notesSlides/notesSlide2.xml" Id="Rdf7f8a22499b4c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cd8b68af34a18" /><Relationship Type="http://schemas.openxmlformats.org/officeDocument/2006/relationships/notesSlide" Target="/ppt/notesSlides/notesSlide3.xml" Id="Re2d2dc795a5a40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3781f23e44f64" /><Relationship Type="http://schemas.openxmlformats.org/officeDocument/2006/relationships/notesSlide" Target="/ppt/notesSlides/notesSlide4.xml" Id="Rf715d3d9bb454c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8d2e982764197" /><Relationship Type="http://schemas.openxmlformats.org/officeDocument/2006/relationships/notesSlide" Target="/ppt/notesSlides/notesSlide5.xml" Id="R5a4e33cfb52e49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cc600efc44bce" /><Relationship Type="http://schemas.openxmlformats.org/officeDocument/2006/relationships/notesSlide" Target="/ppt/notesSlides/notesSlide6.xml" Id="R33e4745a8f0c4c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358f74b744aa6" /><Relationship Type="http://schemas.openxmlformats.org/officeDocument/2006/relationships/notesSlide" Target="/ppt/notesSlides/notesSlide7.xml" Id="Rcbdd521015234c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7c15babfe42ed" /><Relationship Type="http://schemas.openxmlformats.org/officeDocument/2006/relationships/notesSlide" Target="/ppt/notesSlides/notesSlide8.xml" Id="Rd1bd3fbe0d1b4d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55d8e84fa4925" /><Relationship Type="http://schemas.openxmlformats.org/officeDocument/2006/relationships/notesSlide" Target="/ppt/notesSlides/notesSlide9.xml" Id="R46e4e4c477a94e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3d5807294469e" /><Relationship Type="http://schemas.openxmlformats.org/officeDocument/2006/relationships/notesSlide" Target="/ppt/notesSlides/notesSlide10.xml" Id="Re6f6bc75e88749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688fa17324666" /><Relationship Type="http://schemas.openxmlformats.org/officeDocument/2006/relationships/notesSlide" Target="/ppt/notesSlides/notesSlide11.xml" Id="R61bb9c130fd849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9C2C4E6-8821-4AAF-922D-EE3A9EE1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19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DISCORD BOT / IMPLEMENTATION REPORT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2866766-DA6A-466B-9B4E-827FDEDD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80962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6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46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長期運用基盤
実装完了レポート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2EFB024-58BA-4853-B6ED-D6A517E6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8096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80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/checkbot・30分reconciliation・安全な設定管理</a:t>
            </a:r>
          </a:p>
        </p:txBody>
      </p:sp>
      <p:cxnSp>
        <p:nvCxnSpPr>
          <p:cNvPr id="13" name="cover-rule"/>
          <p:cNvCxnSpPr/>
          <p:nvPr/>
        </p:nvCxnSpPr>
        <p:spPr>
          <a:xfrm xmlns:a="http://schemas.openxmlformats.org/drawingml/2006/main">
            <a:off x="457200" y="4476750"/>
            <a:ext cx="752475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318"/>
            </a:solidFill>
            <a:prstDash val="solid"/>
          </a:ln>
        </p:spPr>
      </p:cxn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D0D393DE-AB8F-4794-84AE-17E3F9A1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561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20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2026.08  /  discord-voice-grouper</a:t>
            </a:r>
          </a:p>
        </p:txBody>
      </p:sp>
      <p:sp>
        <p:nvSpPr>
          <p:cNvPr id="6" name="cover-bar-1">
            <a:extLst xmlns:a="http://schemas.openxmlformats.org/drawingml/2006/main">
              <a:ext uri="{FF2B5EF4-FFF2-40B4-BE49-F238E27FC236}">
                <a16:creationId xmlns:a16="http://schemas.microsoft.com/office/drawing/2014/main" id="{78452DB2-BF8E-4FCF-9C6D-BF6AC379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19200"/>
            <a:ext cx="3238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bar-2">
            <a:extLst xmlns:a="http://schemas.openxmlformats.org/drawingml/2006/main">
              <a:ext uri="{FF2B5EF4-FFF2-40B4-BE49-F238E27FC236}">
                <a16:creationId xmlns:a16="http://schemas.microsoft.com/office/drawing/2014/main" id="{F906D9A8-6624-40FE-9978-730D0EBC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43125"/>
            <a:ext cx="32385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bar-3">
            <a:extLst xmlns:a="http://schemas.openxmlformats.org/drawingml/2006/main">
              <a:ext uri="{FF2B5EF4-FFF2-40B4-BE49-F238E27FC236}">
                <a16:creationId xmlns:a16="http://schemas.microsoft.com/office/drawing/2014/main" id="{7DCF1356-9A7C-42F0-B680-D886F9D8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095625"/>
            <a:ext cx="323850" cy="2219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num">
            <a:extLst xmlns:a="http://schemas.openxmlformats.org/drawingml/2006/main">
              <a:ext uri="{FF2B5EF4-FFF2-40B4-BE49-F238E27FC236}">
                <a16:creationId xmlns:a16="http://schemas.microsoft.com/office/drawing/2014/main" id="{239FD474-A26C-405F-B5AD-26B8C032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929215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2">
            <a:extLst xmlns:a="http://schemas.openxmlformats.org/drawingml/2006/main">
              <a:ext uri="{FF2B5EF4-FFF2-40B4-BE49-F238E27FC236}">
                <a16:creationId xmlns:a16="http://schemas.microsoft.com/office/drawing/2014/main" id="{5A2B6A9E-A59E-4437-BAC9-B9278EFB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LONG-TERM OPERATIONS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7B97C3C-77AF-49EA-8291-3B2822C1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057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30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3つの機能を、一つの運用基盤として実装</a:t>
            </a:r>
          </a:p>
        </p:txBody>
      </p:sp>
      <p:cxnSp>
        <p:nvCxnSpPr>
          <p:cNvPr id="22" name="header-rule-2"/>
          <p:cNvCxnSpPr/>
          <p:nvPr/>
        </p:nvCxnSpPr>
        <p:spPr>
          <a:xfrm xmlns:a="http://schemas.openxmlformats.org/drawingml/2006/main">
            <a:off x="457200" y="1476375"/>
            <a:ext cx="1127760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318"/>
            </a:solidFill>
            <a:prstDash val="solid"/>
          </a:ln>
        </p:spPr>
      </p:cxnSp>
      <p:sp>
        <p:nvSpPr>
          <p:cNvPr id="4" name="decision-big">
            <a:extLst xmlns:a="http://schemas.openxmlformats.org/drawingml/2006/main">
              <a:ext uri="{FF2B5EF4-FFF2-40B4-BE49-F238E27FC236}">
                <a16:creationId xmlns:a16="http://schemas.microsoft.com/office/drawing/2014/main" id="{ACED5EA3-F45C-411B-B2A6-421191B6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3238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050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4050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4 / 5 / 6</a:t>
            </a:r>
          </a:p>
        </p:txBody>
      </p:sp>
      <p:sp>
        <p:nvSpPr>
          <p:cNvPr id="5" name="decision-caption">
            <a:extLst xmlns:a="http://schemas.openxmlformats.org/drawingml/2006/main">
              <a:ext uri="{FF2B5EF4-FFF2-40B4-BE49-F238E27FC236}">
                <a16:creationId xmlns:a16="http://schemas.microsoft.com/office/drawing/2014/main" id="{314A0E4C-1E86-4836-8C66-727B6390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3143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2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8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診断・定期観測・安全な変更を
切れ目なくつなぐ</a:t>
            </a:r>
          </a:p>
        </p:txBody>
      </p:sp>
      <p:sp>
        <p:nvSpPr>
          <p:cNvPr id="6" name="decision-support">
            <a:extLst xmlns:a="http://schemas.openxmlformats.org/drawingml/2006/main">
              <a:ext uri="{FF2B5EF4-FFF2-40B4-BE49-F238E27FC236}">
                <a16:creationId xmlns:a16="http://schemas.microsoft.com/office/drawing/2014/main" id="{A21D6790-CFC4-40DE-B8EF-F5EBB698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31432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35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単発の便利機能ではなく、
1年規模の保守を支える仕組みにした。</a:t>
            </a:r>
          </a:p>
        </p:txBody>
      </p:sp>
      <p:sp>
        <p:nvSpPr>
          <p:cNvPr id="7" name="d4-num">
            <a:extLst xmlns:a="http://schemas.openxmlformats.org/drawingml/2006/main">
              <a:ext uri="{FF2B5EF4-FFF2-40B4-BE49-F238E27FC236}">
                <a16:creationId xmlns:a16="http://schemas.microsoft.com/office/drawing/2014/main" id="{212ADB66-6A12-42A2-A67A-FA0B49E8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552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8" name="d4-title">
            <a:extLst xmlns:a="http://schemas.openxmlformats.org/drawingml/2006/main">
              <a:ext uri="{FF2B5EF4-FFF2-40B4-BE49-F238E27FC236}">
                <a16:creationId xmlns:a16="http://schemas.microsoft.com/office/drawing/2014/main" id="{06BBA6D3-BF0D-46AF-970D-E5ACB7B6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62125"/>
            <a:ext cx="619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875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/checkbot を /setup から分離</a:t>
            </a:r>
          </a:p>
        </p:txBody>
      </p:sp>
      <p:sp>
        <p:nvSpPr>
          <p:cNvPr id="9" name="d4-body">
            <a:extLst xmlns:a="http://schemas.openxmlformats.org/drawingml/2006/main">
              <a:ext uri="{FF2B5EF4-FFF2-40B4-BE49-F238E27FC236}">
                <a16:creationId xmlns:a16="http://schemas.microsoft.com/office/drawing/2014/main" id="{87AA91A4-56F3-49B7-8DEE-2E5AD9D7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7170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35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権限と対象リソースだけを、変更せずに確認する。</a:t>
            </a:r>
          </a:p>
        </p:txBody>
      </p:sp>
      <p:cxnSp>
        <p:nvCxnSpPr>
          <p:cNvPr id="29" name="d4-rule"/>
          <p:cNvCxnSpPr/>
          <p:nvPr/>
        </p:nvCxnSpPr>
        <p:spPr>
          <a:xfrm xmlns:a="http://schemas.openxmlformats.org/drawingml/2006/main">
            <a:off x="4324350" y="2600325"/>
            <a:ext cx="695325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d5-num">
            <a:extLst xmlns:a="http://schemas.openxmlformats.org/drawingml/2006/main">
              <a:ext uri="{FF2B5EF4-FFF2-40B4-BE49-F238E27FC236}">
                <a16:creationId xmlns:a16="http://schemas.microsoft.com/office/drawing/2014/main" id="{718ACF9B-F769-41D1-A9B3-90596DFE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76550"/>
            <a:ext cx="552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12" name="d5-title">
            <a:extLst xmlns:a="http://schemas.openxmlformats.org/drawingml/2006/main">
              <a:ext uri="{FF2B5EF4-FFF2-40B4-BE49-F238E27FC236}">
                <a16:creationId xmlns:a16="http://schemas.microsoft.com/office/drawing/2014/main" id="{E4BC1439-7E34-4402-B7B9-DFB26625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28925"/>
            <a:ext cx="619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875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reconciliation は30分ごと</a:t>
            </a:r>
          </a:p>
        </p:txBody>
      </p:sp>
      <p:sp>
        <p:nvSpPr>
          <p:cNvPr id="13" name="d5-body">
            <a:extLst xmlns:a="http://schemas.openxmlformats.org/drawingml/2006/main">
              <a:ext uri="{FF2B5EF4-FFF2-40B4-BE49-F238E27FC236}">
                <a16:creationId xmlns:a16="http://schemas.microsoft.com/office/drawing/2014/main" id="{8853FAC0-3BA5-4D6A-A342-79200820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3850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35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Discord上の実態と保存状態のずれを継続観測する。</a:t>
            </a:r>
          </a:p>
        </p:txBody>
      </p:sp>
      <p:cxnSp>
        <p:nvCxnSpPr>
          <p:cNvPr id="33" name="d5-rule"/>
          <p:cNvCxnSpPr/>
          <p:nvPr/>
        </p:nvCxnSpPr>
        <p:spPr>
          <a:xfrm xmlns:a="http://schemas.openxmlformats.org/drawingml/2006/main">
            <a:off x="4324350" y="3667125"/>
            <a:ext cx="695325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d6-num">
            <a:extLst xmlns:a="http://schemas.openxmlformats.org/drawingml/2006/main">
              <a:ext uri="{FF2B5EF4-FFF2-40B4-BE49-F238E27FC236}">
                <a16:creationId xmlns:a16="http://schemas.microsoft.com/office/drawing/2014/main" id="{3A4B32D5-C056-4BBC-8E1F-B5154BB8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43350"/>
            <a:ext cx="552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16" name="d6-title">
            <a:extLst xmlns:a="http://schemas.openxmlformats.org/drawingml/2006/main">
              <a:ext uri="{FF2B5EF4-FFF2-40B4-BE49-F238E27FC236}">
                <a16:creationId xmlns:a16="http://schemas.microsoft.com/office/drawing/2014/main" id="{06C83944-37D7-4E42-9035-193B117C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95725"/>
            <a:ext cx="619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875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設定変更を履歴・適用・復旧まで管理</a:t>
            </a:r>
          </a:p>
        </p:txBody>
      </p:sp>
      <p:sp>
        <p:nvSpPr>
          <p:cNvPr id="17" name="d6-body">
            <a:extLst xmlns:a="http://schemas.openxmlformats.org/drawingml/2006/main">
              <a:ext uri="{FF2B5EF4-FFF2-40B4-BE49-F238E27FC236}">
                <a16:creationId xmlns:a16="http://schemas.microsoft.com/office/drawing/2014/main" id="{D5E8CEA7-D51E-46B8-8F80-1AE1D66C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05300"/>
            <a:ext cx="6191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35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下書き、差分、transaction、適用job、rollbackを一貫化。</a:t>
            </a:r>
          </a:p>
        </p:txBody>
      </p:sp>
      <p:sp>
        <p:nvSpPr>
          <p:cNvPr id="18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DF34D54B-244D-4877-B1C9-ADF4D5B1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IMPLEMENTATION REPORT</a:t>
            </a:r>
          </a:p>
        </p:txBody>
      </p:sp>
      <p:sp>
        <p:nvSpPr>
          <p:cNvPr id="19" name="footer-num-2">
            <a:extLst xmlns:a="http://schemas.openxmlformats.org/drawingml/2006/main">
              <a:ext uri="{FF2B5EF4-FFF2-40B4-BE49-F238E27FC236}">
                <a16:creationId xmlns:a16="http://schemas.microsoft.com/office/drawing/2014/main" id="{662A8F74-6CAC-4C48-8AF3-AC50E498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372225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589402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5ADDF2EB-5E7A-4832-B82F-D26924B3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LONG-TERM OPERATIONS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8FE4FD56-0145-4ED1-BB8E-D943EF97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057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30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診断 → 観測 → 変更の3層で長期運用を支える</a:t>
            </a:r>
          </a:p>
        </p:txBody>
      </p:sp>
      <p:cxnSp>
        <p:nvCxnSpPr>
          <p:cNvPr id="22" name="header-rule-3"/>
          <p:cNvCxnSpPr/>
          <p:nvPr/>
        </p:nvCxnSpPr>
        <p:spPr>
          <a:xfrm xmlns:a="http://schemas.openxmlformats.org/drawingml/2006/main">
            <a:off x="457200" y="1476375"/>
            <a:ext cx="1127760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318"/>
            </a:solidFill>
            <a:prstDash val="solid"/>
          </a:ln>
        </p:spPr>
      </p:cxnSp>
      <p:sp>
        <p:nvSpPr>
          <p:cNvPr id="4" name="arch-rail">
            <a:extLst xmlns:a="http://schemas.openxmlformats.org/drawingml/2006/main">
              <a:ext uri="{FF2B5EF4-FFF2-40B4-BE49-F238E27FC236}">
                <a16:creationId xmlns:a16="http://schemas.microsoft.com/office/drawing/2014/main" id="{F61643FE-BA7C-4BAC-BEA2-E68A8095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762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ch-1-tag">
            <a:extLst xmlns:a="http://schemas.openxmlformats.org/drawingml/2006/main">
              <a:ext uri="{FF2B5EF4-FFF2-40B4-BE49-F238E27FC236}">
                <a16:creationId xmlns:a16="http://schemas.microsoft.com/office/drawing/2014/main" id="{1DF53040-95C3-4966-9C90-FB245CA6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01  DIAGNOSE</a:t>
            </a:r>
          </a:p>
        </p:txBody>
      </p:sp>
      <p:sp>
        <p:nvSpPr>
          <p:cNvPr id="6" name="arch-1-title">
            <a:extLst xmlns:a="http://schemas.openxmlformats.org/drawingml/2006/main">
              <a:ext uri="{FF2B5EF4-FFF2-40B4-BE49-F238E27FC236}">
                <a16:creationId xmlns:a16="http://schemas.microsoft.com/office/drawing/2014/main" id="{F64941A1-7BEC-4725-BB3B-EBD3010E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22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/checkbot</a:t>
            </a:r>
          </a:p>
        </p:txBody>
      </p:sp>
      <p:sp>
        <p:nvSpPr>
          <p:cNvPr id="7" name="arch-1-body">
            <a:extLst xmlns:a="http://schemas.openxmlformats.org/drawingml/2006/main">
              <a:ext uri="{FF2B5EF4-FFF2-40B4-BE49-F238E27FC236}">
                <a16:creationId xmlns:a16="http://schemas.microsoft.com/office/drawing/2014/main" id="{408500E8-365F-4B9B-AF6C-9D55642E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57400"/>
            <a:ext cx="723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50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必要権限・チャンネル・ロール・機能別依存を
読み取り専用で検証</a:t>
            </a:r>
          </a:p>
        </p:txBody>
      </p:sp>
      <p:cxnSp>
        <p:nvCxnSpPr>
          <p:cNvPr id="27" name="arch-1-rule"/>
          <p:cNvCxnSpPr/>
          <p:nvPr/>
        </p:nvCxnSpPr>
        <p:spPr>
          <a:xfrm xmlns:a="http://schemas.openxmlformats.org/drawingml/2006/main">
            <a:off x="781050" y="2781300"/>
            <a:ext cx="1038225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arch-2-tag">
            <a:extLst xmlns:a="http://schemas.openxmlformats.org/drawingml/2006/main">
              <a:ext uri="{FF2B5EF4-FFF2-40B4-BE49-F238E27FC236}">
                <a16:creationId xmlns:a16="http://schemas.microsoft.com/office/drawing/2014/main" id="{BAB77520-E3A9-43D7-A0B5-12562979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02  OBSERVE</a:t>
            </a:r>
          </a:p>
        </p:txBody>
      </p:sp>
      <p:sp>
        <p:nvSpPr>
          <p:cNvPr id="10" name="arch-2-title">
            <a:extLst xmlns:a="http://schemas.openxmlformats.org/drawingml/2006/main">
              <a:ext uri="{FF2B5EF4-FFF2-40B4-BE49-F238E27FC236}">
                <a16:creationId xmlns:a16="http://schemas.microsoft.com/office/drawing/2014/main" id="{AB7AFD6D-D613-40B5-85F0-5750E6FA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22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30分reconciliation</a:t>
            </a:r>
          </a:p>
        </p:txBody>
      </p:sp>
      <p:sp>
        <p:nvSpPr>
          <p:cNvPr id="11" name="arch-2-body">
            <a:extLst xmlns:a="http://schemas.openxmlformats.org/drawingml/2006/main">
              <a:ext uri="{FF2B5EF4-FFF2-40B4-BE49-F238E27FC236}">
                <a16:creationId xmlns:a16="http://schemas.microsoft.com/office/drawing/2014/main" id="{E01E71BA-3867-4639-A2E6-4C196B15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76600"/>
            <a:ext cx="6477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50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保存設定とDiscord上の実態を比較し、
観測結果と安全な修復候補を永続化</a:t>
            </a:r>
          </a:p>
        </p:txBody>
      </p:sp>
      <p:cxnSp>
        <p:nvCxnSpPr>
          <p:cNvPr id="31" name="arch-2-rule"/>
          <p:cNvCxnSpPr/>
          <p:nvPr/>
        </p:nvCxnSpPr>
        <p:spPr>
          <a:xfrm xmlns:a="http://schemas.openxmlformats.org/drawingml/2006/main">
            <a:off x="781050" y="4000500"/>
            <a:ext cx="1038225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arch-3-tag">
            <a:extLst xmlns:a="http://schemas.openxmlformats.org/drawingml/2006/main">
              <a:ext uri="{FF2B5EF4-FFF2-40B4-BE49-F238E27FC236}">
                <a16:creationId xmlns:a16="http://schemas.microsoft.com/office/drawing/2014/main" id="{36AD1F83-95EB-4250-8B38-CE3AC9BB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03  CHANGE</a:t>
            </a:r>
          </a:p>
        </p:txBody>
      </p:sp>
      <p:sp>
        <p:nvSpPr>
          <p:cNvPr id="14" name="arch-3-title">
            <a:extLst xmlns:a="http://schemas.openxmlformats.org/drawingml/2006/main">
              <a:ext uri="{FF2B5EF4-FFF2-40B4-BE49-F238E27FC236}">
                <a16:creationId xmlns:a16="http://schemas.microsoft.com/office/drawing/2014/main" id="{F3BF8BF7-66BE-4C41-8D4F-063070EE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22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/setup + /config</a:t>
            </a:r>
          </a:p>
        </p:txBody>
      </p:sp>
      <p:sp>
        <p:nvSpPr>
          <p:cNvPr id="15" name="arch-3-body">
            <a:extLst xmlns:a="http://schemas.openxmlformats.org/drawingml/2006/main">
              <a:ext uri="{FF2B5EF4-FFF2-40B4-BE49-F238E27FC236}">
                <a16:creationId xmlns:a16="http://schemas.microsoft.com/office/drawing/2014/main" id="{F06C04AC-FCF1-4EAF-98ED-09A40BD0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95800"/>
            <a:ext cx="6477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50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変更を下書き・履歴・差分・適用job・
rollbackとして追跡可能にする</a:t>
            </a:r>
          </a:p>
        </p:txBody>
      </p:sp>
      <p:sp>
        <p:nvSpPr>
          <p:cNvPr id="16" name="arch-close">
            <a:extLst xmlns:a="http://schemas.openxmlformats.org/drawingml/2006/main">
              <a:ext uri="{FF2B5EF4-FFF2-40B4-BE49-F238E27FC236}">
                <a16:creationId xmlns:a16="http://schemas.microsoft.com/office/drawing/2014/main" id="{85D7FFB8-968A-4D9A-B2CF-10DAA650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READ-ONLY</a:t>
            </a:r>
          </a:p>
        </p:txBody>
      </p:sp>
      <p:sp>
        <p:nvSpPr>
          <p:cNvPr id="17" name="arch-close2">
            <a:extLst xmlns:a="http://schemas.openxmlformats.org/drawingml/2006/main">
              <a:ext uri="{FF2B5EF4-FFF2-40B4-BE49-F238E27FC236}">
                <a16:creationId xmlns:a16="http://schemas.microsoft.com/office/drawing/2014/main" id="{5085DFEC-F27E-43E7-A79A-E206D6AC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815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CONTROLLED WRITE</a:t>
            </a:r>
          </a:p>
        </p:txBody>
      </p:sp>
      <p:sp>
        <p:nvSpPr>
          <p:cNvPr id="18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34742F9F-0054-4D06-A5EE-6626F016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IMPLEMENTATION REPORT</a:t>
            </a:r>
          </a:p>
        </p:txBody>
      </p:sp>
      <p:sp>
        <p:nvSpPr>
          <p:cNvPr id="19" name="footer-num-3">
            <a:extLst xmlns:a="http://schemas.openxmlformats.org/drawingml/2006/main">
              <a:ext uri="{FF2B5EF4-FFF2-40B4-BE49-F238E27FC236}">
                <a16:creationId xmlns:a16="http://schemas.microsoft.com/office/drawing/2014/main" id="{0D6F6461-D627-48E7-80B7-39774EE4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372225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35946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-4">
            <a:extLst xmlns:a="http://schemas.openxmlformats.org/drawingml/2006/main">
              <a:ext uri="{FF2B5EF4-FFF2-40B4-BE49-F238E27FC236}">
                <a16:creationId xmlns:a16="http://schemas.microsoft.com/office/drawing/2014/main" id="{A05BA0E2-B5D6-4481-A292-65937A23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LONG-TERM OPERATIONS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08D9DB8-6EFE-41F4-84A4-41F3F870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057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30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/checkbot は、変更せずに実行可能性を診断する</a:t>
            </a:r>
          </a:p>
        </p:txBody>
      </p:sp>
      <p:cxnSp>
        <p:nvCxnSpPr>
          <p:cNvPr id="33" name="header-rule-4"/>
          <p:cNvCxnSpPr/>
          <p:nvPr/>
        </p:nvCxnSpPr>
        <p:spPr>
          <a:xfrm xmlns:a="http://schemas.openxmlformats.org/drawingml/2006/main">
            <a:off x="457200" y="1476375"/>
            <a:ext cx="1127760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318"/>
            </a:solidFill>
            <a:prstDash val="solid"/>
          </a:ln>
        </p:spPr>
      </p:cxnSp>
      <p:sp>
        <p:nvSpPr>
          <p:cNvPr id="4" name="checkbot-command-bg">
            <a:extLst xmlns:a="http://schemas.openxmlformats.org/drawingml/2006/main">
              <a:ext uri="{FF2B5EF4-FFF2-40B4-BE49-F238E27FC236}">
                <a16:creationId xmlns:a16="http://schemas.microsoft.com/office/drawing/2014/main" id="{7F93BB03-EB9C-48F1-86E4-B43F3243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44291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heckbot-command-label">
            <a:extLst xmlns:a="http://schemas.openxmlformats.org/drawingml/2006/main">
              <a:ext uri="{FF2B5EF4-FFF2-40B4-BE49-F238E27FC236}">
                <a16:creationId xmlns:a16="http://schemas.microsoft.com/office/drawing/2014/main" id="{889756B3-B5AE-4956-BD1E-52D56316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>
                <a:solidFill>
                  <a:srgbClr val="AEB4C0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AEB4C0"/>
                </a:solidFill>
                <a:latin typeface="Yu Gothic"/>
                <a:ea typeface="Yu Gothic"/>
                <a:cs typeface="Yu Gothic"/>
              </a:rPr>
              <a:t>COMMAND</a:t>
            </a:r>
          </a:p>
        </p:txBody>
      </p:sp>
      <p:sp>
        <p:nvSpPr>
          <p:cNvPr id="6" name="checkbot-command">
            <a:extLst xmlns:a="http://schemas.openxmlformats.org/drawingml/2006/main">
              <a:ext uri="{FF2B5EF4-FFF2-40B4-BE49-F238E27FC236}">
                <a16:creationId xmlns:a16="http://schemas.microsoft.com/office/drawing/2014/main" id="{DDFF22E3-77BD-4C3C-BD36-79FA12A2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3810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25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/checkbot feature:all</a:t>
            </a:r>
          </a:p>
        </p:txBody>
      </p:sp>
      <p:sp>
        <p:nvSpPr>
          <p:cNvPr id="7" name="checkbot-note">
            <a:extLst xmlns:a="http://schemas.openxmlformats.org/drawingml/2006/main">
              <a:ext uri="{FF2B5EF4-FFF2-40B4-BE49-F238E27FC236}">
                <a16:creationId xmlns:a16="http://schemas.microsoft.com/office/drawing/2014/main" id="{F2659FB7-ADF1-4D3A-81CE-33F86604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24175"/>
            <a:ext cx="381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>
                <a:solidFill>
                  <a:srgbClr val="AEB4C0"/>
                </a:solidFill>
                <a:latin typeface="Yu Gothic"/>
                <a:ea typeface="Yu Gothic"/>
                <a:cs typeface="Yu Gothic"/>
              </a:defRPr>
            </a:pPr>
            <a:r>
              <a:rPr sz="1050" b="0" i="0">
                <a:solidFill>
                  <a:srgbClr val="AEB4C0"/>
                </a:solidFill>
                <a:latin typeface="Yu Gothic"/>
                <a:ea typeface="Yu Gothic"/>
                <a:cs typeface="Yu Gothic"/>
              </a:rPr>
              <a:t>設定は変更しない / 結果はephemeral</a:t>
            </a:r>
          </a:p>
        </p:txBody>
      </p:sp>
      <p:sp>
        <p:nvSpPr>
          <p:cNvPr id="8" name="checkbot-point-1">
            <a:extLst xmlns:a="http://schemas.openxmlformats.org/drawingml/2006/main">
              <a:ext uri="{FF2B5EF4-FFF2-40B4-BE49-F238E27FC236}">
                <a16:creationId xmlns:a16="http://schemas.microsoft.com/office/drawing/2014/main" id="{1B0990E8-118D-4931-A9DC-8CB267D8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9070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checkbot-point-1-title">
            <a:extLst xmlns:a="http://schemas.openxmlformats.org/drawingml/2006/main">
              <a:ext uri="{FF2B5EF4-FFF2-40B4-BE49-F238E27FC236}">
                <a16:creationId xmlns:a16="http://schemas.microsoft.com/office/drawing/2014/main" id="{44123B71-A568-4AA4-9D68-CFEBF39B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6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管理者だけが実行</a:t>
            </a:r>
          </a:p>
        </p:txBody>
      </p:sp>
      <p:sp>
        <p:nvSpPr>
          <p:cNvPr id="10" name="checkbot-point-1-body">
            <a:extLst xmlns:a="http://schemas.openxmlformats.org/drawingml/2006/main">
              <a:ext uri="{FF2B5EF4-FFF2-40B4-BE49-F238E27FC236}">
                <a16:creationId xmlns:a16="http://schemas.microsoft.com/office/drawing/2014/main" id="{73E2B2A9-6525-4713-BD34-DE3B21A4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76450"/>
            <a:ext cx="523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27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ManageGuild必須・サーバー内限定・DM無効。</a:t>
            </a:r>
          </a:p>
        </p:txBody>
      </p:sp>
      <p:cxnSp>
        <p:nvCxnSpPr>
          <p:cNvPr id="41" name="checkbot-r1"/>
          <p:cNvCxnSpPr/>
          <p:nvPr/>
        </p:nvCxnSpPr>
        <p:spPr>
          <a:xfrm xmlns:a="http://schemas.openxmlformats.org/drawingml/2006/main">
            <a:off x="5429250" y="2447925"/>
            <a:ext cx="581025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checkbot-point-2">
            <a:extLst xmlns:a="http://schemas.openxmlformats.org/drawingml/2006/main">
              <a:ext uri="{FF2B5EF4-FFF2-40B4-BE49-F238E27FC236}">
                <a16:creationId xmlns:a16="http://schemas.microsoft.com/office/drawing/2014/main" id="{5A79E694-0A05-45E0-9089-871C364F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2890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3" name="checkbot-point-2-title">
            <a:extLst xmlns:a="http://schemas.openxmlformats.org/drawingml/2006/main">
              <a:ext uri="{FF2B5EF4-FFF2-40B4-BE49-F238E27FC236}">
                <a16:creationId xmlns:a16="http://schemas.microsoft.com/office/drawing/2014/main" id="{E9BCFE07-4C76-487F-B5E7-D3ADAC95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9080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6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全対応機能を横断</a:t>
            </a:r>
          </a:p>
        </p:txBody>
      </p:sp>
      <p:sp>
        <p:nvSpPr>
          <p:cNvPr id="14" name="checkbot-point-2-body">
            <a:extLst xmlns:a="http://schemas.openxmlformats.org/drawingml/2006/main">
              <a:ext uri="{FF2B5EF4-FFF2-40B4-BE49-F238E27FC236}">
                <a16:creationId xmlns:a16="http://schemas.microsoft.com/office/drawing/2014/main" id="{D490F184-51E1-4C4D-AC95-3319B1F4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14650"/>
            <a:ext cx="5429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27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機能別の権限、対象channel/role、依存設定を確認。</a:t>
            </a:r>
          </a:p>
        </p:txBody>
      </p:sp>
      <p:cxnSp>
        <p:nvCxnSpPr>
          <p:cNvPr id="45" name="checkbot-r2"/>
          <p:cNvCxnSpPr/>
          <p:nvPr/>
        </p:nvCxnSpPr>
        <p:spPr>
          <a:xfrm xmlns:a="http://schemas.openxmlformats.org/drawingml/2006/main">
            <a:off x="5429250" y="3476625"/>
            <a:ext cx="581025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checkbot-point-3">
            <a:extLst xmlns:a="http://schemas.openxmlformats.org/drawingml/2006/main">
              <a:ext uri="{FF2B5EF4-FFF2-40B4-BE49-F238E27FC236}">
                <a16:creationId xmlns:a16="http://schemas.microsoft.com/office/drawing/2014/main" id="{FF81901C-7083-4D1D-9D7A-814CD005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5760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7" name="checkbot-point-3-title">
            <a:extLst xmlns:a="http://schemas.openxmlformats.org/drawingml/2006/main">
              <a:ext uri="{FF2B5EF4-FFF2-40B4-BE49-F238E27FC236}">
                <a16:creationId xmlns:a16="http://schemas.microsoft.com/office/drawing/2014/main" id="{BD877949-8D1E-4E09-B717-40BAA516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1950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6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機能差を正しく判定</a:t>
            </a:r>
          </a:p>
        </p:txBody>
      </p:sp>
      <p:sp>
        <p:nvSpPr>
          <p:cNvPr id="18" name="checkbot-point-3-body">
            <a:extLst xmlns:a="http://schemas.openxmlformats.org/drawingml/2006/main">
              <a:ext uri="{FF2B5EF4-FFF2-40B4-BE49-F238E27FC236}">
                <a16:creationId xmlns:a16="http://schemas.microsoft.com/office/drawing/2014/main" id="{72CB38BA-F260-465D-BF1E-0CA03AA0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43350"/>
            <a:ext cx="5429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27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例：callwait通知はManageMessages必須、promptは不要。</a:t>
            </a:r>
          </a:p>
        </p:txBody>
      </p:sp>
      <p:cxnSp>
        <p:nvCxnSpPr>
          <p:cNvPr id="49" name="checkbot-status-rule"/>
          <p:cNvCxnSpPr/>
          <p:nvPr/>
        </p:nvCxnSpPr>
        <p:spPr>
          <a:xfrm xmlns:a="http://schemas.openxmlformats.org/drawingml/2006/main">
            <a:off x="457200" y="4857750"/>
            <a:ext cx="1078230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318"/>
            </a:solidFill>
            <a:prstDash val="solid"/>
          </a:ln>
        </p:spPr>
      </p:cxnSp>
      <p:sp>
        <p:nvSpPr>
          <p:cNvPr id="20" name="status-ok">
            <a:extLst xmlns:a="http://schemas.openxmlformats.org/drawingml/2006/main">
              <a:ext uri="{FF2B5EF4-FFF2-40B4-BE49-F238E27FC236}">
                <a16:creationId xmlns:a16="http://schemas.microsoft.com/office/drawing/2014/main" id="{D11EDD12-4236-42C4-83A2-2C25CDB7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A4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atus-ok-label">
            <a:extLst xmlns:a="http://schemas.openxmlformats.org/drawingml/2006/main">
              <a:ext uri="{FF2B5EF4-FFF2-40B4-BE49-F238E27FC236}">
                <a16:creationId xmlns:a16="http://schemas.microsoft.com/office/drawing/2014/main" id="{94EECD8E-1D7F-4E82-ACA4-23C646D2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9048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正常</a:t>
            </a:r>
          </a:p>
        </p:txBody>
      </p:sp>
      <p:sp>
        <p:nvSpPr>
          <p:cNvPr id="22" name="status-warn">
            <a:extLst xmlns:a="http://schemas.openxmlformats.org/drawingml/2006/main">
              <a:ext uri="{FF2B5EF4-FFF2-40B4-BE49-F238E27FC236}">
                <a16:creationId xmlns:a16="http://schemas.microsoft.com/office/drawing/2014/main" id="{22662503-800C-4F0F-878E-7C04E9EC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181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atus-warn-label">
            <a:extLst xmlns:a="http://schemas.openxmlformats.org/drawingml/2006/main">
              <a:ext uri="{FF2B5EF4-FFF2-40B4-BE49-F238E27FC236}">
                <a16:creationId xmlns:a16="http://schemas.microsoft.com/office/drawing/2014/main" id="{F6AF9FD6-5B08-481C-ADE1-B35D33C0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0540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警告・未設定</a:t>
            </a:r>
          </a:p>
        </p:txBody>
      </p:sp>
      <p:sp>
        <p:nvSpPr>
          <p:cNvPr id="24" name="status-bad">
            <a:extLst xmlns:a="http://schemas.openxmlformats.org/drawingml/2006/main">
              <a:ext uri="{FF2B5EF4-FFF2-40B4-BE49-F238E27FC236}">
                <a16:creationId xmlns:a16="http://schemas.microsoft.com/office/drawing/2014/main" id="{13BFC591-A320-417E-98E9-7F0D9CC3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81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2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atus-bad-label">
            <a:extLst xmlns:a="http://schemas.openxmlformats.org/drawingml/2006/main">
              <a:ext uri="{FF2B5EF4-FFF2-40B4-BE49-F238E27FC236}">
                <a16:creationId xmlns:a16="http://schemas.microsoft.com/office/drawing/2014/main" id="{0B541450-4049-451C-9FCB-2AA4C0E1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実行不能</a:t>
            </a:r>
          </a:p>
        </p:txBody>
      </p:sp>
      <p:sp>
        <p:nvSpPr>
          <p:cNvPr id="26" name="status-unknown">
            <a:extLst xmlns:a="http://schemas.openxmlformats.org/drawingml/2006/main">
              <a:ext uri="{FF2B5EF4-FFF2-40B4-BE49-F238E27FC236}">
                <a16:creationId xmlns:a16="http://schemas.microsoft.com/office/drawing/2014/main" id="{4D274AE5-4FF3-4D55-81CB-FCBB6DB2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81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tatus-unknown-label">
            <a:extLst xmlns:a="http://schemas.openxmlformats.org/drawingml/2006/main">
              <a:ext uri="{FF2B5EF4-FFF2-40B4-BE49-F238E27FC236}">
                <a16:creationId xmlns:a16="http://schemas.microsoft.com/office/drawing/2014/main" id="{42B5A3DA-930A-45C8-BF8D-032A07A1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054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確認不能</a:t>
            </a:r>
          </a:p>
        </p:txBody>
      </p:sp>
      <p:sp>
        <p:nvSpPr>
          <p:cNvPr id="28" name="status-next">
            <a:extLst xmlns:a="http://schemas.openxmlformats.org/drawingml/2006/main">
              <a:ext uri="{FF2B5EF4-FFF2-40B4-BE49-F238E27FC236}">
                <a16:creationId xmlns:a16="http://schemas.microsoft.com/office/drawing/2014/main" id="{EF377885-06DD-4E3F-90E7-5868A5A4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0540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20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長い結果はfeature指定で個別確認</a:t>
            </a:r>
          </a:p>
        </p:txBody>
      </p:sp>
      <p:sp>
        <p:nvSpPr>
          <p:cNvPr id="29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E4795F8A-E727-4AE4-81FF-2689128F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IMPLEMENTATION REPORT</a:t>
            </a:r>
          </a:p>
        </p:txBody>
      </p:sp>
      <p:sp>
        <p:nvSpPr>
          <p:cNvPr id="30" name="footer-num-4">
            <a:extLst xmlns:a="http://schemas.openxmlformats.org/drawingml/2006/main">
              <a:ext uri="{FF2B5EF4-FFF2-40B4-BE49-F238E27FC236}">
                <a16:creationId xmlns:a16="http://schemas.microsoft.com/office/drawing/2014/main" id="{DF57047E-FA6F-47DC-B35E-E55CBEC2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372225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990051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-5">
            <a:extLst xmlns:a="http://schemas.openxmlformats.org/drawingml/2006/main">
              <a:ext uri="{FF2B5EF4-FFF2-40B4-BE49-F238E27FC236}">
                <a16:creationId xmlns:a16="http://schemas.microsoft.com/office/drawing/2014/main" id="{46F3EEB9-7290-4961-B48C-D5095FBA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LONG-TERM OPERATIONS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4ADC3AA-8A2F-439C-89C5-F3AADCC8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057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30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30分ごとの観測と自動修復を、明確に分離した</a:t>
            </a:r>
          </a:p>
        </p:txBody>
      </p:sp>
      <p:cxnSp>
        <p:nvCxnSpPr>
          <p:cNvPr id="35" name="header-rule-5"/>
          <p:cNvCxnSpPr/>
          <p:nvPr/>
        </p:nvCxnSpPr>
        <p:spPr>
          <a:xfrm xmlns:a="http://schemas.openxmlformats.org/drawingml/2006/main">
            <a:off x="457200" y="1476375"/>
            <a:ext cx="1127760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318"/>
            </a:solidFill>
            <a:prstDash val="solid"/>
          </a:ln>
        </p:spPr>
      </p:cxnSp>
      <p:sp>
        <p:nvSpPr>
          <p:cNvPr id="4" name="recon-big">
            <a:extLst xmlns:a="http://schemas.openxmlformats.org/drawingml/2006/main">
              <a:ext uri="{FF2B5EF4-FFF2-40B4-BE49-F238E27FC236}">
                <a16:creationId xmlns:a16="http://schemas.microsoft.com/office/drawing/2014/main" id="{22EA44CF-AFD8-4B28-911E-182F99C1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23850"/>
            <a:ext cx="9906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4200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4200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sp>
        <p:nvSpPr>
          <p:cNvPr id="5" name="recon-min">
            <a:extLst xmlns:a="http://schemas.openxmlformats.org/drawingml/2006/main">
              <a:ext uri="{FF2B5EF4-FFF2-40B4-BE49-F238E27FC236}">
                <a16:creationId xmlns:a16="http://schemas.microsoft.com/office/drawing/2014/main" id="{3F2AFAB2-7038-4D57-80A4-C55845DD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85800"/>
            <a:ext cx="62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MIN</a:t>
            </a:r>
          </a:p>
        </p:txBody>
      </p:sp>
      <p:cxnSp>
        <p:nvCxnSpPr>
          <p:cNvPr id="38" name="recon-line"/>
          <p:cNvCxnSpPr/>
          <p:nvPr/>
        </p:nvCxnSpPr>
        <p:spPr>
          <a:xfrm xmlns:a="http://schemas.openxmlformats.org/drawingml/2006/main">
            <a:off x="800100" y="3143250"/>
            <a:ext cx="10191750" cy="19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318"/>
            </a:solidFill>
            <a:prstDash val="solid"/>
          </a:ln>
        </p:spPr>
      </p:cxnSp>
      <p:sp>
        <p:nvSpPr>
          <p:cNvPr id="7" name="recon-dot-1">
            <a:extLst xmlns:a="http://schemas.openxmlformats.org/drawingml/2006/main">
              <a:ext uri="{FF2B5EF4-FFF2-40B4-BE49-F238E27FC236}">
                <a16:creationId xmlns:a16="http://schemas.microsoft.com/office/drawing/2014/main" id="{727234DF-41F4-4738-AB9E-3271B381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670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on-stage-1">
            <a:extLst xmlns:a="http://schemas.openxmlformats.org/drawingml/2006/main">
              <a:ext uri="{FF2B5EF4-FFF2-40B4-BE49-F238E27FC236}">
                <a16:creationId xmlns:a16="http://schemas.microsoft.com/office/drawing/2014/main" id="{0DECEFB7-3746-4E49-A5F2-B7EAD906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621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OBSERVE</a:t>
            </a:r>
          </a:p>
        </p:txBody>
      </p:sp>
      <p:sp>
        <p:nvSpPr>
          <p:cNvPr id="9" name="recon-title-1">
            <a:extLst xmlns:a="http://schemas.openxmlformats.org/drawingml/2006/main">
              <a:ext uri="{FF2B5EF4-FFF2-40B4-BE49-F238E27FC236}">
                <a16:creationId xmlns:a16="http://schemas.microsoft.com/office/drawing/2014/main" id="{E9DA74F5-F8C1-4882-AB38-B2D238BA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05050"/>
            <a:ext cx="19526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読み取り専用で
現状を収集</a:t>
            </a:r>
          </a:p>
        </p:txBody>
      </p:sp>
      <p:sp>
        <p:nvSpPr>
          <p:cNvPr id="10" name="recon-body-1">
            <a:extLst xmlns:a="http://schemas.openxmlformats.org/drawingml/2006/main">
              <a:ext uri="{FF2B5EF4-FFF2-40B4-BE49-F238E27FC236}">
                <a16:creationId xmlns:a16="http://schemas.microsoft.com/office/drawing/2014/main" id="{08924B9E-534C-415C-984C-9BA6EEFE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352800"/>
            <a:ext cx="195262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20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Discord APIと保存状態を比較</a:t>
            </a:r>
          </a:p>
        </p:txBody>
      </p:sp>
      <p:sp>
        <p:nvSpPr>
          <p:cNvPr id="11" name="recon-dot-2">
            <a:extLst xmlns:a="http://schemas.openxmlformats.org/drawingml/2006/main">
              <a:ext uri="{FF2B5EF4-FFF2-40B4-BE49-F238E27FC236}">
                <a16:creationId xmlns:a16="http://schemas.microsoft.com/office/drawing/2014/main" id="{12FBDC69-E0CE-4BDE-B1BB-13D676F5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0670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on-stage-2">
            <a:extLst xmlns:a="http://schemas.openxmlformats.org/drawingml/2006/main">
              <a:ext uri="{FF2B5EF4-FFF2-40B4-BE49-F238E27FC236}">
                <a16:creationId xmlns:a16="http://schemas.microsoft.com/office/drawing/2014/main" id="{1468D1C8-30F4-4C9E-910D-CD1FEA85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621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CANDIDATE</a:t>
            </a:r>
          </a:p>
        </p:txBody>
      </p:sp>
      <p:sp>
        <p:nvSpPr>
          <p:cNvPr id="13" name="recon-title-2">
            <a:extLst xmlns:a="http://schemas.openxmlformats.org/drawingml/2006/main">
              <a:ext uri="{FF2B5EF4-FFF2-40B4-BE49-F238E27FC236}">
                <a16:creationId xmlns:a16="http://schemas.microsoft.com/office/drawing/2014/main" id="{5CB88C8F-FFE1-417C-872B-6C15A6CA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05050"/>
            <a:ext cx="19526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allowlistだけを
修復候補化</a:t>
            </a:r>
          </a:p>
        </p:txBody>
      </p:sp>
      <p:sp>
        <p:nvSpPr>
          <p:cNvPr id="14" name="recon-body-2">
            <a:extLst xmlns:a="http://schemas.openxmlformats.org/drawingml/2006/main">
              <a:ext uri="{FF2B5EF4-FFF2-40B4-BE49-F238E27FC236}">
                <a16:creationId xmlns:a16="http://schemas.microsoft.com/office/drawing/2014/main" id="{596D7A59-DB24-46FB-8438-0F1A1C9E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52800"/>
            <a:ext cx="195262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20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観測・理由・actionKeyを保存</a:t>
            </a:r>
          </a:p>
        </p:txBody>
      </p:sp>
      <p:sp>
        <p:nvSpPr>
          <p:cNvPr id="15" name="recon-dot-3">
            <a:extLst xmlns:a="http://schemas.openxmlformats.org/drawingml/2006/main">
              <a:ext uri="{FF2B5EF4-FFF2-40B4-BE49-F238E27FC236}">
                <a16:creationId xmlns:a16="http://schemas.microsoft.com/office/drawing/2014/main" id="{C104783A-1123-4CD3-8BF1-AD141558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0670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on-stage-3">
            <a:extLst xmlns:a="http://schemas.openxmlformats.org/drawingml/2006/main">
              <a:ext uri="{FF2B5EF4-FFF2-40B4-BE49-F238E27FC236}">
                <a16:creationId xmlns:a16="http://schemas.microsoft.com/office/drawing/2014/main" id="{72F3918D-3F64-4801-8525-BCA6773F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621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PREFLIGHT</a:t>
            </a:r>
          </a:p>
        </p:txBody>
      </p:sp>
      <p:sp>
        <p:nvSpPr>
          <p:cNvPr id="17" name="recon-title-3">
            <a:extLst xmlns:a="http://schemas.openxmlformats.org/drawingml/2006/main">
              <a:ext uri="{FF2B5EF4-FFF2-40B4-BE49-F238E27FC236}">
                <a16:creationId xmlns:a16="http://schemas.microsoft.com/office/drawing/2014/main" id="{BB1DDE74-AB16-4197-B46B-393191DF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05050"/>
            <a:ext cx="19526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最新状態で
再確認</a:t>
            </a:r>
          </a:p>
        </p:txBody>
      </p:sp>
      <p:sp>
        <p:nvSpPr>
          <p:cNvPr id="18" name="recon-body-3">
            <a:extLst xmlns:a="http://schemas.openxmlformats.org/drawingml/2006/main">
              <a:ext uri="{FF2B5EF4-FFF2-40B4-BE49-F238E27FC236}">
                <a16:creationId xmlns:a16="http://schemas.microsoft.com/office/drawing/2014/main" id="{4CE8AFC8-F425-4AE1-85D7-76B2BFD4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52800"/>
            <a:ext cx="195262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20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対象・権限・必要性を確定</a:t>
            </a:r>
          </a:p>
        </p:txBody>
      </p:sp>
      <p:sp>
        <p:nvSpPr>
          <p:cNvPr id="19" name="recon-dot-4">
            <a:extLst xmlns:a="http://schemas.openxmlformats.org/drawingml/2006/main">
              <a:ext uri="{FF2B5EF4-FFF2-40B4-BE49-F238E27FC236}">
                <a16:creationId xmlns:a16="http://schemas.microsoft.com/office/drawing/2014/main" id="{76F42220-E4C0-443C-9714-411AFB61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670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con-stage-4">
            <a:extLst xmlns:a="http://schemas.openxmlformats.org/drawingml/2006/main">
              <a:ext uri="{FF2B5EF4-FFF2-40B4-BE49-F238E27FC236}">
                <a16:creationId xmlns:a16="http://schemas.microsoft.com/office/drawing/2014/main" id="{7C783AB3-1F31-4F4B-92A1-3472089B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REPAIR</a:t>
            </a:r>
          </a:p>
        </p:txBody>
      </p:sp>
      <p:sp>
        <p:nvSpPr>
          <p:cNvPr id="21" name="recon-title-4">
            <a:extLst xmlns:a="http://schemas.openxmlformats.org/drawingml/2006/main">
              <a:ext uri="{FF2B5EF4-FFF2-40B4-BE49-F238E27FC236}">
                <a16:creationId xmlns:a16="http://schemas.microsoft.com/office/drawing/2014/main" id="{B7BA2A55-5B88-4E41-B645-A52BC84B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05050"/>
            <a:ext cx="19526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lease / fencingで
一度だけ実行</a:t>
            </a:r>
          </a:p>
        </p:txBody>
      </p:sp>
      <p:sp>
        <p:nvSpPr>
          <p:cNvPr id="22" name="recon-body-4">
            <a:extLst xmlns:a="http://schemas.openxmlformats.org/drawingml/2006/main">
              <a:ext uri="{FF2B5EF4-FFF2-40B4-BE49-F238E27FC236}">
                <a16:creationId xmlns:a16="http://schemas.microsoft.com/office/drawing/2014/main" id="{7895E6F4-49F2-4F89-8381-67400C25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52800"/>
            <a:ext cx="195262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20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結果不明は再実行せず停止</a:t>
            </a:r>
          </a:p>
        </p:txBody>
      </p:sp>
      <p:sp>
        <p:nvSpPr>
          <p:cNvPr id="23" name="recon-dot-5">
            <a:extLst xmlns:a="http://schemas.openxmlformats.org/drawingml/2006/main">
              <a:ext uri="{FF2B5EF4-FFF2-40B4-BE49-F238E27FC236}">
                <a16:creationId xmlns:a16="http://schemas.microsoft.com/office/drawing/2014/main" id="{97A1DC7F-7BE3-4228-8A48-CB704180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0670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econ-stage-5">
            <a:extLst xmlns:a="http://schemas.openxmlformats.org/drawingml/2006/main">
              <a:ext uri="{FF2B5EF4-FFF2-40B4-BE49-F238E27FC236}">
                <a16:creationId xmlns:a16="http://schemas.microsoft.com/office/drawing/2014/main" id="{2A9F7A2C-EBB0-4575-BEAD-612A450A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621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POSTFLIGHT</a:t>
            </a:r>
          </a:p>
        </p:txBody>
      </p:sp>
      <p:sp>
        <p:nvSpPr>
          <p:cNvPr id="25" name="recon-title-5">
            <a:extLst xmlns:a="http://schemas.openxmlformats.org/drawingml/2006/main">
              <a:ext uri="{FF2B5EF4-FFF2-40B4-BE49-F238E27FC236}">
                <a16:creationId xmlns:a16="http://schemas.microsoft.com/office/drawing/2014/main" id="{7FA90B38-72C3-4E56-B721-4BB3C8DA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05050"/>
            <a:ext cx="19526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drift消失を
再検証</a:t>
            </a:r>
          </a:p>
        </p:txBody>
      </p:sp>
      <p:sp>
        <p:nvSpPr>
          <p:cNvPr id="26" name="recon-body-5">
            <a:extLst xmlns:a="http://schemas.openxmlformats.org/drawingml/2006/main">
              <a:ext uri="{FF2B5EF4-FFF2-40B4-BE49-F238E27FC236}">
                <a16:creationId xmlns:a16="http://schemas.microsoft.com/office/drawing/2014/main" id="{C7050F24-0215-41B0-916F-FB122536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52800"/>
            <a:ext cx="195262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20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残存・不明ならappliedにしない</a:t>
            </a:r>
          </a:p>
        </p:txBody>
      </p:sp>
      <p:sp>
        <p:nvSpPr>
          <p:cNvPr id="27" name="recon-stop-bg">
            <a:extLst xmlns:a="http://schemas.openxmlformats.org/drawingml/2006/main">
              <a:ext uri="{FF2B5EF4-FFF2-40B4-BE49-F238E27FC236}">
                <a16:creationId xmlns:a16="http://schemas.microsoft.com/office/drawing/2014/main" id="{50F3512E-9AA2-4BA2-B56F-038E1117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10782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con-stop-label">
            <a:extLst xmlns:a="http://schemas.openxmlformats.org/drawingml/2006/main">
              <a:ext uri="{FF2B5EF4-FFF2-40B4-BE49-F238E27FC236}">
                <a16:creationId xmlns:a16="http://schemas.microsoft.com/office/drawing/2014/main" id="{DE845693-CED2-4FFE-A338-A0C6D136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16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FAIL-SAFE</a:t>
            </a:r>
          </a:p>
        </p:txBody>
      </p:sp>
      <p:sp>
        <p:nvSpPr>
          <p:cNvPr id="29" name="recon-stop">
            <a:extLst xmlns:a="http://schemas.openxmlformats.org/drawingml/2006/main">
              <a:ext uri="{FF2B5EF4-FFF2-40B4-BE49-F238E27FC236}">
                <a16:creationId xmlns:a16="http://schemas.microsoft.com/office/drawing/2014/main" id="{A4B36B45-CAA9-4130-A990-15FB2133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91050"/>
            <a:ext cx="876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API不明・対象欠落・権限不足・Discord結果不明 → 自動修復せず BLOCK</a:t>
            </a:r>
          </a:p>
        </p:txBody>
      </p:sp>
      <p:sp>
        <p:nvSpPr>
          <p:cNvPr id="30" name="recon-stop-sub">
            <a:extLst xmlns:a="http://schemas.openxmlformats.org/drawingml/2006/main">
              <a:ext uri="{FF2B5EF4-FFF2-40B4-BE49-F238E27FC236}">
                <a16:creationId xmlns:a16="http://schemas.microsoft.com/office/drawing/2014/main" id="{00D28AE1-63A4-4322-84DE-0B4917E2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91100"/>
            <a:ext cx="876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blocked / circuit_open は手動確認まで粘着し、次の30分観測で勝手に復活しない。</a:t>
            </a:r>
          </a:p>
        </p:txBody>
      </p:sp>
      <p:sp>
        <p:nvSpPr>
          <p:cNvPr id="31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54FAA666-7DE8-4E09-AA73-3947AEE4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IMPLEMENTATION REPORT</a:t>
            </a:r>
          </a:p>
        </p:txBody>
      </p:sp>
      <p:sp>
        <p:nvSpPr>
          <p:cNvPr id="32" name="footer-num-5">
            <a:extLst xmlns:a="http://schemas.openxmlformats.org/drawingml/2006/main">
              <a:ext uri="{FF2B5EF4-FFF2-40B4-BE49-F238E27FC236}">
                <a16:creationId xmlns:a16="http://schemas.microsoft.com/office/drawing/2014/main" id="{00B6B666-629F-46C4-92EA-651277FB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372225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650566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-6">
            <a:extLst xmlns:a="http://schemas.openxmlformats.org/drawingml/2006/main">
              <a:ext uri="{FF2B5EF4-FFF2-40B4-BE49-F238E27FC236}">
                <a16:creationId xmlns:a16="http://schemas.microsoft.com/office/drawing/2014/main" id="{B6BF2947-44A9-46D4-A44B-A118B312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LONG-TERM OPERATIONS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1DC7363D-5048-472C-87D2-2EA85750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057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30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/setup は30分TTLの下書きから、安全に確定する</a:t>
            </a:r>
          </a:p>
        </p:txBody>
      </p:sp>
      <p:cxnSp>
        <p:nvCxnSpPr>
          <p:cNvPr id="38" name="header-rule-6"/>
          <p:cNvCxnSpPr/>
          <p:nvPr/>
        </p:nvCxnSpPr>
        <p:spPr>
          <a:xfrm xmlns:a="http://schemas.openxmlformats.org/drawingml/2006/main">
            <a:off x="457200" y="1476375"/>
            <a:ext cx="1127760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318"/>
            </a:solidFill>
            <a:prstDash val="solid"/>
          </a:ln>
        </p:spPr>
      </p:cxnSp>
      <p:sp>
        <p:nvSpPr>
          <p:cNvPr id="4" name="setup-ttl-bg">
            <a:extLst xmlns:a="http://schemas.openxmlformats.org/drawingml/2006/main">
              <a:ext uri="{FF2B5EF4-FFF2-40B4-BE49-F238E27FC236}">
                <a16:creationId xmlns:a16="http://schemas.microsoft.com/office/drawing/2014/main" id="{DCAB8BE6-EB17-491E-8D44-F30D7D24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52600"/>
            <a:ext cx="2038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tup-ttl">
            <a:extLst xmlns:a="http://schemas.openxmlformats.org/drawingml/2006/main">
              <a:ext uri="{FF2B5EF4-FFF2-40B4-BE49-F238E27FC236}">
                <a16:creationId xmlns:a16="http://schemas.microsoft.com/office/drawing/2014/main" id="{DBD073DD-805D-43E9-A2AA-F5760DF5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76425"/>
            <a:ext cx="1466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5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325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30 MIN</a:t>
            </a:r>
          </a:p>
        </p:txBody>
      </p:sp>
      <p:sp>
        <p:nvSpPr>
          <p:cNvPr id="6" name="setup-ttl-sub">
            <a:extLst xmlns:a="http://schemas.openxmlformats.org/drawingml/2006/main">
              <a:ext uri="{FF2B5EF4-FFF2-40B4-BE49-F238E27FC236}">
                <a16:creationId xmlns:a16="http://schemas.microsoft.com/office/drawing/2014/main" id="{536B9313-5F0E-413E-9DA6-0A9170C3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8600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>
                <a:solidFill>
                  <a:srgbClr val="DDE1FF"/>
                </a:solidFill>
                <a:latin typeface="Yu Gothic"/>
                <a:ea typeface="Yu Gothic"/>
                <a:cs typeface="Yu Gothic"/>
              </a:defRPr>
            </a:pPr>
            <a:r>
              <a:rPr sz="1050" b="0" i="0">
                <a:solidFill>
                  <a:srgbClr val="DDE1FF"/>
                </a:solidFill>
                <a:latin typeface="Yu Gothic"/>
                <a:ea typeface="Yu Gothic"/>
                <a:cs typeface="Yu Gothic"/>
              </a:rPr>
              <a:t>draft TTL</a:t>
            </a:r>
          </a:p>
        </p:txBody>
      </p:sp>
      <p:cxnSp>
        <p:nvCxnSpPr>
          <p:cNvPr id="42" name="setup-flow-line"/>
          <p:cNvCxnSpPr/>
          <p:nvPr/>
        </p:nvCxnSpPr>
        <p:spPr>
          <a:xfrm xmlns:a="http://schemas.openxmlformats.org/drawingml/2006/main">
            <a:off x="857250" y="3486150"/>
            <a:ext cx="9925050" cy="19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318"/>
            </a:solidFill>
            <a:prstDash val="solid"/>
          </a:ln>
        </p:spPr>
      </p:cxnSp>
      <p:sp>
        <p:nvSpPr>
          <p:cNvPr id="8" name="setup-dot-0">
            <a:extLst xmlns:a="http://schemas.openxmlformats.org/drawingml/2006/main">
              <a:ext uri="{FF2B5EF4-FFF2-40B4-BE49-F238E27FC236}">
                <a16:creationId xmlns:a16="http://schemas.microsoft.com/office/drawing/2014/main" id="{6F482673-C84F-4FD4-80F8-7F63CBF4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tup-num-0">
            <a:extLst xmlns:a="http://schemas.openxmlformats.org/drawingml/2006/main">
              <a:ext uri="{FF2B5EF4-FFF2-40B4-BE49-F238E27FC236}">
                <a16:creationId xmlns:a16="http://schemas.microsoft.com/office/drawing/2014/main" id="{BC7B3A89-E2A3-4D69-9311-747A36FB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0" name="setup-title-0">
            <a:extLst xmlns:a="http://schemas.openxmlformats.org/drawingml/2006/main">
              <a:ext uri="{FF2B5EF4-FFF2-40B4-BE49-F238E27FC236}">
                <a16:creationId xmlns:a16="http://schemas.microsoft.com/office/drawing/2014/main" id="{40B48779-C595-4FB5-890E-9B41A1D0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開始</a:t>
            </a:r>
          </a:p>
        </p:txBody>
      </p:sp>
      <p:sp>
        <p:nvSpPr>
          <p:cNvPr id="11" name="setup-body-0">
            <a:extLst xmlns:a="http://schemas.openxmlformats.org/drawingml/2006/main">
              <a:ext uri="{FF2B5EF4-FFF2-40B4-BE49-F238E27FC236}">
                <a16:creationId xmlns:a16="http://schemas.microsoft.com/office/drawing/2014/main" id="{618BB707-F1F8-41C7-B075-B39F0F5D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619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20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guild全体で
active draftは1件</a:t>
            </a:r>
          </a:p>
        </p:txBody>
      </p:sp>
      <p:sp>
        <p:nvSpPr>
          <p:cNvPr id="12" name="setup-dot-1">
            <a:extLst xmlns:a="http://schemas.openxmlformats.org/drawingml/2006/main">
              <a:ext uri="{FF2B5EF4-FFF2-40B4-BE49-F238E27FC236}">
                <a16:creationId xmlns:a16="http://schemas.microsoft.com/office/drawing/2014/main" id="{61021C56-A5D3-48DC-A76C-C923628F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00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etup-num-1">
            <a:extLst xmlns:a="http://schemas.openxmlformats.org/drawingml/2006/main">
              <a:ext uri="{FF2B5EF4-FFF2-40B4-BE49-F238E27FC236}">
                <a16:creationId xmlns:a16="http://schemas.microsoft.com/office/drawing/2014/main" id="{8F69D9A5-F8BD-4D28-9FA5-412A282E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575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4" name="setup-title-1">
            <a:extLst xmlns:a="http://schemas.openxmlformats.org/drawingml/2006/main">
              <a:ext uri="{FF2B5EF4-FFF2-40B4-BE49-F238E27FC236}">
                <a16:creationId xmlns:a16="http://schemas.microsoft.com/office/drawing/2014/main" id="{CA95ABB3-01B6-4BC3-98CE-E8C91458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051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選択</a:t>
            </a:r>
          </a:p>
        </p:txBody>
      </p:sp>
      <p:sp>
        <p:nvSpPr>
          <p:cNvPr id="15" name="setup-body-1">
            <a:extLst xmlns:a="http://schemas.openxmlformats.org/drawingml/2006/main">
              <a:ext uri="{FF2B5EF4-FFF2-40B4-BE49-F238E27FC236}">
                <a16:creationId xmlns:a16="http://schemas.microsoft.com/office/drawing/2014/main" id="{9D7000A9-D362-4ED6-82C3-3F72785B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33800"/>
            <a:ext cx="1619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20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機能ごとの項目を
下書きへmerge</a:t>
            </a:r>
          </a:p>
        </p:txBody>
      </p:sp>
      <p:sp>
        <p:nvSpPr>
          <p:cNvPr id="16" name="setup-dot-2">
            <a:extLst xmlns:a="http://schemas.openxmlformats.org/drawingml/2006/main">
              <a:ext uri="{FF2B5EF4-FFF2-40B4-BE49-F238E27FC236}">
                <a16:creationId xmlns:a16="http://schemas.microsoft.com/office/drawing/2014/main" id="{F6C1E4AB-7F83-4052-87DB-8374A6A5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00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etup-num-2">
            <a:extLst xmlns:a="http://schemas.openxmlformats.org/drawingml/2006/main">
              <a:ext uri="{FF2B5EF4-FFF2-40B4-BE49-F238E27FC236}">
                <a16:creationId xmlns:a16="http://schemas.microsoft.com/office/drawing/2014/main" id="{4304FC15-F584-4318-B1A2-FD6AD5AE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575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8" name="setup-title-2">
            <a:extLst xmlns:a="http://schemas.openxmlformats.org/drawingml/2006/main">
              <a:ext uri="{FF2B5EF4-FFF2-40B4-BE49-F238E27FC236}">
                <a16:creationId xmlns:a16="http://schemas.microsoft.com/office/drawing/2014/main" id="{65FA8DF9-F54F-400C-A664-73D6FF03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051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確認</a:t>
            </a:r>
          </a:p>
        </p:txBody>
      </p:sp>
      <p:sp>
        <p:nvSpPr>
          <p:cNvPr id="19" name="setup-body-2">
            <a:extLst xmlns:a="http://schemas.openxmlformats.org/drawingml/2006/main">
              <a:ext uri="{FF2B5EF4-FFF2-40B4-BE49-F238E27FC236}">
                <a16:creationId xmlns:a16="http://schemas.microsoft.com/office/drawing/2014/main" id="{A7E05088-72EE-477D-8678-B7F24432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33800"/>
            <a:ext cx="1619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20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keep / clearを含む
effective値をreview</a:t>
            </a:r>
          </a:p>
        </p:txBody>
      </p:sp>
      <p:sp>
        <p:nvSpPr>
          <p:cNvPr id="20" name="setup-dot-3">
            <a:extLst xmlns:a="http://schemas.openxmlformats.org/drawingml/2006/main">
              <a:ext uri="{FF2B5EF4-FFF2-40B4-BE49-F238E27FC236}">
                <a16:creationId xmlns:a16="http://schemas.microsoft.com/office/drawing/2014/main" id="{EF47CB05-8C84-432D-A2B9-5578E44F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0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etup-num-3">
            <a:extLst xmlns:a="http://schemas.openxmlformats.org/drawingml/2006/main">
              <a:ext uri="{FF2B5EF4-FFF2-40B4-BE49-F238E27FC236}">
                <a16:creationId xmlns:a16="http://schemas.microsoft.com/office/drawing/2014/main" id="{F742527C-E408-4F6B-BCE4-6FF2AB6D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2" name="setup-title-3">
            <a:extLst xmlns:a="http://schemas.openxmlformats.org/drawingml/2006/main">
              <a:ext uri="{FF2B5EF4-FFF2-40B4-BE49-F238E27FC236}">
                <a16:creationId xmlns:a16="http://schemas.microsoft.com/office/drawing/2014/main" id="{597E6469-C523-4773-97CF-0602B2C5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CAS claim</a:t>
            </a:r>
          </a:p>
        </p:txBody>
      </p:sp>
      <p:sp>
        <p:nvSpPr>
          <p:cNvPr id="23" name="setup-body-3">
            <a:extLst xmlns:a="http://schemas.openxmlformats.org/drawingml/2006/main">
              <a:ext uri="{FF2B5EF4-FFF2-40B4-BE49-F238E27FC236}">
                <a16:creationId xmlns:a16="http://schemas.microsoft.com/office/drawing/2014/main" id="{4F465459-323C-4FAD-81B8-91A39FA4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33800"/>
            <a:ext cx="1619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20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active → committingを
原子的に取得</a:t>
            </a:r>
          </a:p>
        </p:txBody>
      </p:sp>
      <p:sp>
        <p:nvSpPr>
          <p:cNvPr id="24" name="setup-dot-4">
            <a:extLst xmlns:a="http://schemas.openxmlformats.org/drawingml/2006/main">
              <a:ext uri="{FF2B5EF4-FFF2-40B4-BE49-F238E27FC236}">
                <a16:creationId xmlns:a16="http://schemas.microsoft.com/office/drawing/2014/main" id="{B9D84B09-5EF7-4973-86E2-0C607634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00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tup-num-4">
            <a:extLst xmlns:a="http://schemas.openxmlformats.org/drawingml/2006/main">
              <a:ext uri="{FF2B5EF4-FFF2-40B4-BE49-F238E27FC236}">
                <a16:creationId xmlns:a16="http://schemas.microsoft.com/office/drawing/2014/main" id="{CDBC78D9-901C-4595-852F-7838299E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6" name="setup-title-4">
            <a:extLst xmlns:a="http://schemas.openxmlformats.org/drawingml/2006/main">
              <a:ext uri="{FF2B5EF4-FFF2-40B4-BE49-F238E27FC236}">
                <a16:creationId xmlns:a16="http://schemas.microsoft.com/office/drawing/2014/main" id="{9757AC94-E1B4-451B-873C-3AA538B9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再検証</a:t>
            </a:r>
          </a:p>
        </p:txBody>
      </p:sp>
      <p:sp>
        <p:nvSpPr>
          <p:cNvPr id="27" name="setup-body-4">
            <a:extLst xmlns:a="http://schemas.openxmlformats.org/drawingml/2006/main">
              <a:ext uri="{FF2B5EF4-FFF2-40B4-BE49-F238E27FC236}">
                <a16:creationId xmlns:a16="http://schemas.microsoft.com/office/drawing/2014/main" id="{D28C6A80-891B-46A8-857D-3BADAED6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33800"/>
            <a:ext cx="1619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20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force fetchで削除・
型変更を検出</a:t>
            </a:r>
          </a:p>
        </p:txBody>
      </p:sp>
      <p:sp>
        <p:nvSpPr>
          <p:cNvPr id="28" name="setup-owner-title">
            <a:extLst xmlns:a="http://schemas.openxmlformats.org/drawingml/2006/main">
              <a:ext uri="{FF2B5EF4-FFF2-40B4-BE49-F238E27FC236}">
                <a16:creationId xmlns:a16="http://schemas.microsoft.com/office/drawing/2014/main" id="{AD7D506E-3D53-499D-9FB1-B356AD5C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OWNER ISOLATION</a:t>
            </a:r>
          </a:p>
        </p:txBody>
      </p:sp>
      <p:sp>
        <p:nvSpPr>
          <p:cNvPr id="29" name="setup-owner">
            <a:extLst xmlns:a="http://schemas.openxmlformats.org/drawingml/2006/main">
              <a:ext uri="{FF2B5EF4-FFF2-40B4-BE49-F238E27FC236}">
                <a16:creationId xmlns:a16="http://schemas.microsoft.com/office/drawing/2014/main" id="{65C939BE-25E7-4AF4-BD88-6D2529A0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4000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再開できるのは作成者だけ。
別管理者は内容を参照・確定できない。</a:t>
            </a:r>
          </a:p>
        </p:txBody>
      </p:sp>
      <p:sp>
        <p:nvSpPr>
          <p:cNvPr id="30" name="setup-bottom">
            <a:extLst xmlns:a="http://schemas.openxmlformats.org/drawingml/2006/main">
              <a:ext uri="{FF2B5EF4-FFF2-40B4-BE49-F238E27FC236}">
                <a16:creationId xmlns:a16="http://schemas.microsoft.com/office/drawing/2014/main" id="{8FCB3398-D7B1-4350-8B6C-112D07D3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10782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etup-bottom-label">
            <a:extLst xmlns:a="http://schemas.openxmlformats.org/drawingml/2006/main">
              <a:ext uri="{FF2B5EF4-FFF2-40B4-BE49-F238E27FC236}">
                <a16:creationId xmlns:a16="http://schemas.microsoft.com/office/drawing/2014/main" id="{190E193B-29E7-4634-BF5A-877DD55A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COMMIT</a:t>
            </a:r>
          </a:p>
        </p:txBody>
      </p:sp>
      <p:sp>
        <p:nvSpPr>
          <p:cNvPr id="32" name="setup-bottom-text">
            <a:extLst xmlns:a="http://schemas.openxmlformats.org/drawingml/2006/main">
              <a:ext uri="{FF2B5EF4-FFF2-40B4-BE49-F238E27FC236}">
                <a16:creationId xmlns:a16="http://schemas.microsoft.com/office/drawing/2014/main" id="{A758A92E-5EAA-4E72-8362-7CFF170D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14900"/>
            <a:ext cx="8858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claimed patchと保持中リソースを再検証 → versioned writerを1回だけ呼び出す</a:t>
            </a:r>
          </a:p>
        </p:txBody>
      </p:sp>
      <p:sp>
        <p:nvSpPr>
          <p:cNvPr id="33" name="setup-bottom-sub">
            <a:extLst xmlns:a="http://schemas.openxmlformats.org/drawingml/2006/main">
              <a:ext uri="{FF2B5EF4-FFF2-40B4-BE49-F238E27FC236}">
                <a16:creationId xmlns:a16="http://schemas.microsoft.com/office/drawing/2014/main" id="{9DC94E4A-F6AC-42BE-83EC-1552949E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48275"/>
            <a:ext cx="885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hidden / clear済みの値はfetch対象外。無効なら設定を書かずに停止する。</a:t>
            </a:r>
          </a:p>
        </p:txBody>
      </p:sp>
      <p:sp>
        <p:nvSpPr>
          <p:cNvPr id="34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AF392E92-E121-44AC-AED6-5FF9FE42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IMPLEMENTATION REPORT</a:t>
            </a:r>
          </a:p>
        </p:txBody>
      </p:sp>
      <p:sp>
        <p:nvSpPr>
          <p:cNvPr id="35" name="footer-num-6">
            <a:extLst xmlns:a="http://schemas.openxmlformats.org/drawingml/2006/main">
              <a:ext uri="{FF2B5EF4-FFF2-40B4-BE49-F238E27FC236}">
                <a16:creationId xmlns:a16="http://schemas.microsoft.com/office/drawing/2014/main" id="{DAC60825-C685-460C-968A-2FD02492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372225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711196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-7">
            <a:extLst xmlns:a="http://schemas.openxmlformats.org/drawingml/2006/main">
              <a:ext uri="{FF2B5EF4-FFF2-40B4-BE49-F238E27FC236}">
                <a16:creationId xmlns:a16="http://schemas.microsoft.com/office/drawing/2014/main" id="{70F3FAB8-FDD9-49D4-894C-028811EB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LONG-TERM OPERATIONS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C26EBDF5-006B-4CA7-AE1C-94113F44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057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30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/config は、設定の履歴から適用・復旧まで追跡する</a:t>
            </a:r>
          </a:p>
        </p:txBody>
      </p:sp>
      <p:cxnSp>
        <p:nvCxnSpPr>
          <p:cNvPr id="35" name="header-rule-7"/>
          <p:cNvCxnSpPr/>
          <p:nvPr/>
        </p:nvCxnSpPr>
        <p:spPr>
          <a:xfrm xmlns:a="http://schemas.openxmlformats.org/drawingml/2006/main">
            <a:off x="457200" y="1476375"/>
            <a:ext cx="1127760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318"/>
            </a:solidFill>
            <a:prstDash val="solid"/>
          </a:ln>
        </p:spPr>
      </p:cxnSp>
      <p:sp>
        <p:nvSpPr>
          <p:cNvPr id="4" name="config-command-label">
            <a:extLst xmlns:a="http://schemas.openxmlformats.org/drawingml/2006/main">
              <a:ext uri="{FF2B5EF4-FFF2-40B4-BE49-F238E27FC236}">
                <a16:creationId xmlns:a16="http://schemas.microsoft.com/office/drawing/2014/main" id="{66E2A939-CB39-4DEA-BEAD-DE82A9BD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OPERATIONS</a:t>
            </a:r>
          </a:p>
        </p:txBody>
      </p:sp>
      <p:sp>
        <p:nvSpPr>
          <p:cNvPr id="5" name="config-command-1">
            <a:extLst xmlns:a="http://schemas.openxmlformats.org/drawingml/2006/main">
              <a:ext uri="{FF2B5EF4-FFF2-40B4-BE49-F238E27FC236}">
                <a16:creationId xmlns:a16="http://schemas.microsoft.com/office/drawing/2014/main" id="{E58B67D5-2D75-497B-B6E8-90BCB9EA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history  /  show  /  diff</a:t>
            </a:r>
          </a:p>
        </p:txBody>
      </p:sp>
      <p:cxnSp>
        <p:nvCxnSpPr>
          <p:cNvPr id="38" name="config-cr1"/>
          <p:cNvCxnSpPr/>
          <p:nvPr/>
        </p:nvCxnSpPr>
        <p:spPr>
          <a:xfrm xmlns:a="http://schemas.openxmlformats.org/drawingml/2006/main">
            <a:off x="457200" y="2590800"/>
            <a:ext cx="342900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config-command-2">
            <a:extLst xmlns:a="http://schemas.openxmlformats.org/drawingml/2006/main">
              <a:ext uri="{FF2B5EF4-FFF2-40B4-BE49-F238E27FC236}">
                <a16:creationId xmlns:a16="http://schemas.microsoft.com/office/drawing/2014/main" id="{3B0939B7-655E-4350-8A7B-E635B674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rollback</a:t>
            </a:r>
          </a:p>
        </p:txBody>
      </p:sp>
      <p:cxnSp>
        <p:nvCxnSpPr>
          <p:cNvPr id="40" name="config-cr2"/>
          <p:cNvCxnSpPr/>
          <p:nvPr/>
        </p:nvCxnSpPr>
        <p:spPr>
          <a:xfrm xmlns:a="http://schemas.openxmlformats.org/drawingml/2006/main">
            <a:off x="457200" y="3171825"/>
            <a:ext cx="342900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config-command-3">
            <a:extLst xmlns:a="http://schemas.openxmlformats.org/drawingml/2006/main">
              <a:ext uri="{FF2B5EF4-FFF2-40B4-BE49-F238E27FC236}">
                <a16:creationId xmlns:a16="http://schemas.microsoft.com/office/drawing/2014/main" id="{A38969E5-0B11-40F5-808B-06EE61F2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342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apply_status  /  apply_retry</a:t>
            </a:r>
          </a:p>
        </p:txBody>
      </p:sp>
      <p:cxnSp>
        <p:nvCxnSpPr>
          <p:cNvPr id="42" name="config-cr3"/>
          <p:cNvCxnSpPr/>
          <p:nvPr/>
        </p:nvCxnSpPr>
        <p:spPr>
          <a:xfrm xmlns:a="http://schemas.openxmlformats.org/drawingml/2006/main">
            <a:off x="457200" y="3905250"/>
            <a:ext cx="342900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config-command-4">
            <a:extLst xmlns:a="http://schemas.openxmlformats.org/drawingml/2006/main">
              <a:ext uri="{FF2B5EF4-FFF2-40B4-BE49-F238E27FC236}">
                <a16:creationId xmlns:a16="http://schemas.microsoft.com/office/drawing/2014/main" id="{89D62A31-281B-47C2-B5A6-4DAD4ADB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7175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reconcile_status</a:t>
            </a:r>
          </a:p>
        </p:txBody>
      </p:sp>
      <p:cxnSp>
        <p:nvCxnSpPr>
          <p:cNvPr id="44" name="config-cr4"/>
          <p:cNvCxnSpPr/>
          <p:nvPr/>
        </p:nvCxnSpPr>
        <p:spPr>
          <a:xfrm xmlns:a="http://schemas.openxmlformats.org/drawingml/2006/main">
            <a:off x="457200" y="4486275"/>
            <a:ext cx="342900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config-command-5">
            <a:extLst xmlns:a="http://schemas.openxmlformats.org/drawingml/2006/main">
              <a:ext uri="{FF2B5EF4-FFF2-40B4-BE49-F238E27FC236}">
                <a16:creationId xmlns:a16="http://schemas.microsoft.com/office/drawing/2014/main" id="{F6B19F9E-7C94-4E8C-BFBA-F4D9EA4B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352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repair_status  /  repair_retry</a:t>
            </a:r>
          </a:p>
        </p:txBody>
      </p:sp>
      <p:sp>
        <p:nvSpPr>
          <p:cNvPr id="14" name="config-flow-bg">
            <a:extLst xmlns:a="http://schemas.openxmlformats.org/drawingml/2006/main">
              <a:ext uri="{FF2B5EF4-FFF2-40B4-BE49-F238E27FC236}">
                <a16:creationId xmlns:a16="http://schemas.microsoft.com/office/drawing/2014/main" id="{D1C5617A-C18D-49E4-9BE4-84947CF2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67627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fig-step1-tag">
            <a:extLst xmlns:a="http://schemas.openxmlformats.org/drawingml/2006/main">
              <a:ext uri="{FF2B5EF4-FFF2-40B4-BE49-F238E27FC236}">
                <a16:creationId xmlns:a16="http://schemas.microsoft.com/office/drawing/2014/main" id="{3FDC9B3B-42E6-4B59-A557-CB255BED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66925"/>
            <a:ext cx="34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6" name="config-step1">
            <a:extLst xmlns:a="http://schemas.openxmlformats.org/drawingml/2006/main">
              <a:ext uri="{FF2B5EF4-FFF2-40B4-BE49-F238E27FC236}">
                <a16:creationId xmlns:a16="http://schemas.microsoft.com/office/drawing/2014/main" id="{6D048E4D-F5EB-441A-A0C2-CDAB7013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00250"/>
            <a:ext cx="285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6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MongoDB transaction</a:t>
            </a:r>
          </a:p>
        </p:txBody>
      </p:sp>
      <p:sp>
        <p:nvSpPr>
          <p:cNvPr id="17" name="config-step1b">
            <a:extLst xmlns:a="http://schemas.openxmlformats.org/drawingml/2006/main">
              <a:ext uri="{FF2B5EF4-FFF2-40B4-BE49-F238E27FC236}">
                <a16:creationId xmlns:a16="http://schemas.microsoft.com/office/drawing/2014/main" id="{05DC7BB9-75BD-4E5C-8B00-2E651607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2410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20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CASでrevisionを1回だけ進める</a:t>
            </a:r>
          </a:p>
        </p:txBody>
      </p:sp>
      <p:cxnSp>
        <p:nvCxnSpPr>
          <p:cNvPr id="50" name="config-fr1"/>
          <p:cNvCxnSpPr/>
          <p:nvPr/>
        </p:nvCxnSpPr>
        <p:spPr>
          <a:xfrm xmlns:a="http://schemas.openxmlformats.org/drawingml/2006/main">
            <a:off x="4762500" y="2676525"/>
            <a:ext cx="601980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9" name="config-step2-tag">
            <a:extLst xmlns:a="http://schemas.openxmlformats.org/drawingml/2006/main">
              <a:ext uri="{FF2B5EF4-FFF2-40B4-BE49-F238E27FC236}">
                <a16:creationId xmlns:a16="http://schemas.microsoft.com/office/drawing/2014/main" id="{AEC5BF18-AC6E-4C5C-9D86-F558B19B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47975"/>
            <a:ext cx="34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20" name="config-step2">
            <a:extLst xmlns:a="http://schemas.openxmlformats.org/drawingml/2006/main">
              <a:ext uri="{FF2B5EF4-FFF2-40B4-BE49-F238E27FC236}">
                <a16:creationId xmlns:a16="http://schemas.microsoft.com/office/drawing/2014/main" id="{908775B0-EF1B-48AB-8AE9-B4DD24F5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6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canonical snapshot + diff</a:t>
            </a:r>
          </a:p>
        </p:txBody>
      </p:sp>
      <p:sp>
        <p:nvSpPr>
          <p:cNvPr id="21" name="config-step2b">
            <a:extLst xmlns:a="http://schemas.openxmlformats.org/drawingml/2006/main">
              <a:ext uri="{FF2B5EF4-FFF2-40B4-BE49-F238E27FC236}">
                <a16:creationId xmlns:a16="http://schemas.microsoft.com/office/drawing/2014/main" id="{4EA17ED5-3FE0-4A2A-BE6A-DE4F1DDD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05150"/>
            <a:ext cx="457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20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explicit nullを『未設定』と混同しない</a:t>
            </a:r>
          </a:p>
        </p:txBody>
      </p:sp>
      <p:cxnSp>
        <p:nvCxnSpPr>
          <p:cNvPr id="54" name="config-fr2"/>
          <p:cNvCxnSpPr/>
          <p:nvPr/>
        </p:nvCxnSpPr>
        <p:spPr>
          <a:xfrm xmlns:a="http://schemas.openxmlformats.org/drawingml/2006/main">
            <a:off x="4762500" y="3457575"/>
            <a:ext cx="601980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3" name="config-step3-tag">
            <a:extLst xmlns:a="http://schemas.openxmlformats.org/drawingml/2006/main">
              <a:ext uri="{FF2B5EF4-FFF2-40B4-BE49-F238E27FC236}">
                <a16:creationId xmlns:a16="http://schemas.microsoft.com/office/drawing/2014/main" id="{3F07F6F7-7B16-46E8-B895-2AAFF94A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29025"/>
            <a:ext cx="34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4" name="config-step3">
            <a:extLst xmlns:a="http://schemas.openxmlformats.org/drawingml/2006/main">
              <a:ext uri="{FF2B5EF4-FFF2-40B4-BE49-F238E27FC236}">
                <a16:creationId xmlns:a16="http://schemas.microsoft.com/office/drawing/2014/main" id="{1DB90470-1809-4556-92FD-1437D868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62350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6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apply job</a:t>
            </a:r>
          </a:p>
        </p:txBody>
      </p:sp>
      <p:sp>
        <p:nvSpPr>
          <p:cNvPr id="25" name="config-step3b">
            <a:extLst xmlns:a="http://schemas.openxmlformats.org/drawingml/2006/main">
              <a:ext uri="{FF2B5EF4-FFF2-40B4-BE49-F238E27FC236}">
                <a16:creationId xmlns:a16="http://schemas.microsoft.com/office/drawing/2014/main" id="{4AE4FEC4-6CCE-479A-AF34-5B4B56CD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862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20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副作用を同期させ、失敗はstatus/retryへ残す</a:t>
            </a:r>
          </a:p>
        </p:txBody>
      </p:sp>
      <p:cxnSp>
        <p:nvCxnSpPr>
          <p:cNvPr id="58" name="config-fr3"/>
          <p:cNvCxnSpPr/>
          <p:nvPr/>
        </p:nvCxnSpPr>
        <p:spPr>
          <a:xfrm xmlns:a="http://schemas.openxmlformats.org/drawingml/2006/main">
            <a:off x="4762500" y="4238625"/>
            <a:ext cx="601980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7" name="config-step4-tag">
            <a:extLst xmlns:a="http://schemas.openxmlformats.org/drawingml/2006/main">
              <a:ext uri="{FF2B5EF4-FFF2-40B4-BE49-F238E27FC236}">
                <a16:creationId xmlns:a16="http://schemas.microsoft.com/office/drawing/2014/main" id="{06D8D139-F756-4660-BED1-F5D07298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10075"/>
            <a:ext cx="34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8" name="config-step4">
            <a:extLst xmlns:a="http://schemas.openxmlformats.org/drawingml/2006/main">
              <a:ext uri="{FF2B5EF4-FFF2-40B4-BE49-F238E27FC236}">
                <a16:creationId xmlns:a16="http://schemas.microsoft.com/office/drawing/2014/main" id="{A649EAFA-3A1F-4EF9-B4CD-CF836844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43400"/>
            <a:ext cx="3524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6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rollback = 新しいrevision</a:t>
            </a:r>
          </a:p>
        </p:txBody>
      </p:sp>
      <p:sp>
        <p:nvSpPr>
          <p:cNvPr id="29" name="config-step4b">
            <a:extLst xmlns:a="http://schemas.openxmlformats.org/drawingml/2006/main">
              <a:ext uri="{FF2B5EF4-FFF2-40B4-BE49-F238E27FC236}">
                <a16:creationId xmlns:a16="http://schemas.microsoft.com/office/drawing/2014/main" id="{14C8C316-EBF7-4FB8-A50E-58672882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67250"/>
            <a:ext cx="485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20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preflight後に履歴を戻し、適用jobで再反映</a:t>
            </a:r>
          </a:p>
        </p:txBody>
      </p:sp>
      <p:sp>
        <p:nvSpPr>
          <p:cNvPr id="30" name="config-guard">
            <a:extLst xmlns:a="http://schemas.openxmlformats.org/drawingml/2006/main">
              <a:ext uri="{FF2B5EF4-FFF2-40B4-BE49-F238E27FC236}">
                <a16:creationId xmlns:a16="http://schemas.microsoft.com/office/drawing/2014/main" id="{399134E6-7003-40D0-A131-83C394B3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48300"/>
            <a:ext cx="676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>
                <a:solidFill>
                  <a:srgbClr val="D1242F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D1242F"/>
                </a:solidFill>
                <a:latin typeface="Yu Gothic"/>
                <a:ea typeface="Yu Gothic"/>
                <a:cs typeface="Yu Gothic"/>
              </a:rPr>
              <a:t>transaction非対応時は、履歴が空と誤認させず明示的に停止</a:t>
            </a:r>
          </a:p>
        </p:txBody>
      </p:sp>
      <p:sp>
        <p:nvSpPr>
          <p:cNvPr id="31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32EF709C-BF62-49F8-94F7-2BFB7014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IMPLEMENTATION REPORT</a:t>
            </a:r>
          </a:p>
        </p:txBody>
      </p:sp>
      <p:sp>
        <p:nvSpPr>
          <p:cNvPr id="32" name="footer-num-7">
            <a:extLst xmlns:a="http://schemas.openxmlformats.org/drawingml/2006/main">
              <a:ext uri="{FF2B5EF4-FFF2-40B4-BE49-F238E27FC236}">
                <a16:creationId xmlns:a16="http://schemas.microsoft.com/office/drawing/2014/main" id="{B51967EA-5753-49BB-8B53-BC2C7753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372225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911956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8">
            <a:extLst xmlns:a="http://schemas.openxmlformats.org/drawingml/2006/main">
              <a:ext uri="{FF2B5EF4-FFF2-40B4-BE49-F238E27FC236}">
                <a16:creationId xmlns:a16="http://schemas.microsoft.com/office/drawing/2014/main" id="{39AB7541-4EC1-47EB-971C-E48C7EE7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LONG-TERM OPERATIONS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6B0EFF81-B28D-4E58-B5B4-CA97E906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057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30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自動化は『不明なら止まる』を徹底した</a:t>
            </a:r>
          </a:p>
        </p:txBody>
      </p:sp>
      <p:cxnSp>
        <p:nvCxnSpPr>
          <p:cNvPr id="23" name="header-rule-8"/>
          <p:cNvCxnSpPr/>
          <p:nvPr/>
        </p:nvCxnSpPr>
        <p:spPr>
          <a:xfrm xmlns:a="http://schemas.openxmlformats.org/drawingml/2006/main">
            <a:off x="457200" y="1476375"/>
            <a:ext cx="1127760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318"/>
            </a:solidFill>
            <a:prstDash val="solid"/>
          </a:ln>
        </p:spPr>
      </p:cxnSp>
      <p:sp>
        <p:nvSpPr>
          <p:cNvPr id="4" name="safety-statement">
            <a:extLst xmlns:a="http://schemas.openxmlformats.org/drawingml/2006/main">
              <a:ext uri="{FF2B5EF4-FFF2-40B4-BE49-F238E27FC236}">
                <a16:creationId xmlns:a16="http://schemas.microsoft.com/office/drawing/2014/main" id="{2C4F447B-8C93-4547-97B7-7F836423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4953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900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3900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UNKNOWN ≠ OK</a:t>
            </a:r>
          </a:p>
        </p:txBody>
      </p:sp>
      <p:sp>
        <p:nvSpPr>
          <p:cNvPr id="5" name="safety-sub">
            <a:extLst xmlns:a="http://schemas.openxmlformats.org/drawingml/2006/main">
              <a:ext uri="{FF2B5EF4-FFF2-40B4-BE49-F238E27FC236}">
                <a16:creationId xmlns:a16="http://schemas.microsoft.com/office/drawing/2014/main" id="{A2FFF0DB-7411-41D5-B029-57484C29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50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成功を推測しない。再試行してよい瞬間も限定する。</a:t>
            </a:r>
          </a:p>
        </p:txBody>
      </p:sp>
      <p:sp>
        <p:nvSpPr>
          <p:cNvPr id="6" name="safety-allow-title">
            <a:extLst xmlns:a="http://schemas.openxmlformats.org/drawingml/2006/main">
              <a:ext uri="{FF2B5EF4-FFF2-40B4-BE49-F238E27FC236}">
                <a16:creationId xmlns:a16="http://schemas.microsoft.com/office/drawing/2014/main" id="{43265F7B-44A6-44FF-94CD-8F645179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457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8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実行してよい条件</a:t>
            </a:r>
          </a:p>
        </p:txBody>
      </p:sp>
      <p:cxnSp>
        <p:nvCxnSpPr>
          <p:cNvPr id="27" name="safety-allow-rule"/>
          <p:cNvCxnSpPr/>
          <p:nvPr/>
        </p:nvCxnSpPr>
        <p:spPr>
          <a:xfrm xmlns:a="http://schemas.openxmlformats.org/drawingml/2006/main">
            <a:off x="457200" y="3752850"/>
            <a:ext cx="4933950" cy="190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DA44E"/>
            </a:solidFill>
            <a:prstDash val="solid"/>
          </a:ln>
        </p:spPr>
      </p:cxnSp>
      <p:sp>
        <p:nvSpPr>
          <p:cNvPr id="8" name="safety-allow-1">
            <a:extLst xmlns:a="http://schemas.openxmlformats.org/drawingml/2006/main">
              <a:ext uri="{FF2B5EF4-FFF2-40B4-BE49-F238E27FC236}">
                <a16:creationId xmlns:a16="http://schemas.microsoft.com/office/drawing/2014/main" id="{ED9E4086-2E2D-4DBD-B00B-15366C0E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01  actionがallowlistにある</a:t>
            </a:r>
          </a:p>
        </p:txBody>
      </p:sp>
      <p:sp>
        <p:nvSpPr>
          <p:cNvPr id="9" name="safety-allow-2">
            <a:extLst xmlns:a="http://schemas.openxmlformats.org/drawingml/2006/main">
              <a:ext uri="{FF2B5EF4-FFF2-40B4-BE49-F238E27FC236}">
                <a16:creationId xmlns:a16="http://schemas.microsoft.com/office/drawing/2014/main" id="{DD5AAF07-5B34-451A-8CC1-29466ED3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02  最新preflightがconfirmed</a:t>
            </a:r>
          </a:p>
        </p:txBody>
      </p:sp>
      <p:sp>
        <p:nvSpPr>
          <p:cNvPr id="10" name="safety-allow-3">
            <a:extLst xmlns:a="http://schemas.openxmlformats.org/drawingml/2006/main">
              <a:ext uri="{FF2B5EF4-FFF2-40B4-BE49-F238E27FC236}">
                <a16:creationId xmlns:a16="http://schemas.microsoft.com/office/drawing/2014/main" id="{A41D2B90-3F47-4696-8FE0-1FBA21C6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03  lease・fencing tokenが有効</a:t>
            </a:r>
          </a:p>
        </p:txBody>
      </p:sp>
      <p:sp>
        <p:nvSpPr>
          <p:cNvPr id="11" name="safety-allow-4">
            <a:extLst xmlns:a="http://schemas.openxmlformats.org/drawingml/2006/main">
              <a:ext uri="{FF2B5EF4-FFF2-40B4-BE49-F238E27FC236}">
                <a16:creationId xmlns:a16="http://schemas.microsoft.com/office/drawing/2014/main" id="{F346709A-E044-4852-ABFE-8E583BBF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04  postflightでdriftが消失</a:t>
            </a:r>
          </a:p>
        </p:txBody>
      </p:sp>
      <p:sp>
        <p:nvSpPr>
          <p:cNvPr id="12" name="safety-stop-title">
            <a:extLst xmlns:a="http://schemas.openxmlformats.org/drawingml/2006/main">
              <a:ext uri="{FF2B5EF4-FFF2-40B4-BE49-F238E27FC236}">
                <a16:creationId xmlns:a16="http://schemas.microsoft.com/office/drawing/2014/main" id="{D946E08B-EB8C-4854-AA88-DBD1378F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457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8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停止する条件</a:t>
            </a:r>
          </a:p>
        </p:txBody>
      </p:sp>
      <p:cxnSp>
        <p:nvCxnSpPr>
          <p:cNvPr id="33" name="safety-stop-rule"/>
          <p:cNvCxnSpPr/>
          <p:nvPr/>
        </p:nvCxnSpPr>
        <p:spPr>
          <a:xfrm xmlns:a="http://schemas.openxmlformats.org/drawingml/2006/main">
            <a:off x="6324600" y="3752850"/>
            <a:ext cx="4914900" cy="190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1242F"/>
            </a:solidFill>
            <a:prstDash val="solid"/>
          </a:ln>
        </p:spPr>
      </p:cxnSp>
      <p:sp>
        <p:nvSpPr>
          <p:cNvPr id="14" name="safety-stop-1">
            <a:extLst xmlns:a="http://schemas.openxmlformats.org/drawingml/2006/main">
              <a:ext uri="{FF2B5EF4-FFF2-40B4-BE49-F238E27FC236}">
                <a16:creationId xmlns:a16="http://schemas.microsoft.com/office/drawing/2014/main" id="{BEA059F9-31CD-4391-8F44-2AD513EF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01  Discord APIの結果がunknown</a:t>
            </a:r>
          </a:p>
        </p:txBody>
      </p:sp>
      <p:sp>
        <p:nvSpPr>
          <p:cNvPr id="15" name="safety-stop-2">
            <a:extLst xmlns:a="http://schemas.openxmlformats.org/drawingml/2006/main">
              <a:ext uri="{FF2B5EF4-FFF2-40B4-BE49-F238E27FC236}">
                <a16:creationId xmlns:a16="http://schemas.microsoft.com/office/drawing/2014/main" id="{5F4D422A-928A-4171-83A8-1A36CA50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243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02  target / permissionが欠ける</a:t>
            </a:r>
          </a:p>
        </p:txBody>
      </p:sp>
      <p:sp>
        <p:nvSpPr>
          <p:cNvPr id="16" name="safety-stop-3">
            <a:extLst xmlns:a="http://schemas.openxmlformats.org/drawingml/2006/main">
              <a:ext uri="{FF2B5EF4-FFF2-40B4-BE49-F238E27FC236}">
                <a16:creationId xmlns:a16="http://schemas.microsoft.com/office/drawing/2014/main" id="{219E3A15-AF6C-474A-AB51-3D0E29C8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053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03  Discord呼び出し後にlease喪失</a:t>
            </a:r>
          </a:p>
        </p:txBody>
      </p:sp>
      <p:sp>
        <p:nvSpPr>
          <p:cNvPr id="17" name="safety-stop-4">
            <a:extLst xmlns:a="http://schemas.openxmlformats.org/drawingml/2006/main">
              <a:ext uri="{FF2B5EF4-FFF2-40B4-BE49-F238E27FC236}">
                <a16:creationId xmlns:a16="http://schemas.microsoft.com/office/drawing/2014/main" id="{4451B23F-7CEA-4798-8EF6-C4BBBC40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863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04  修復後も候補が残る</a:t>
            </a:r>
          </a:p>
        </p:txBody>
      </p:sp>
      <p:sp>
        <p:nvSpPr>
          <p:cNvPr id="18" name="safety-center">
            <a:extLst xmlns:a="http://schemas.openxmlformats.org/drawingml/2006/main">
              <a:ext uri="{FF2B5EF4-FFF2-40B4-BE49-F238E27FC236}">
                <a16:creationId xmlns:a16="http://schemas.microsoft.com/office/drawing/2014/main" id="{0E463521-5805-44C1-93BD-D84522C0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05200"/>
            <a:ext cx="1143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C90D9D19-8BF4-4E97-A698-3806235B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IMPLEMENTATION REPORT</a:t>
            </a:r>
          </a:p>
        </p:txBody>
      </p:sp>
      <p:sp>
        <p:nvSpPr>
          <p:cNvPr id="20" name="footer-num-8">
            <a:extLst xmlns:a="http://schemas.openxmlformats.org/drawingml/2006/main">
              <a:ext uri="{FF2B5EF4-FFF2-40B4-BE49-F238E27FC236}">
                <a16:creationId xmlns:a16="http://schemas.microsoft.com/office/drawing/2014/main" id="{9FB0192E-5699-4D89-B3E3-78E08223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372225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624558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9">
            <a:extLst xmlns:a="http://schemas.openxmlformats.org/drawingml/2006/main">
              <a:ext uri="{FF2B5EF4-FFF2-40B4-BE49-F238E27FC236}">
                <a16:creationId xmlns:a16="http://schemas.microsoft.com/office/drawing/2014/main" id="{5F4FC79A-2DA1-4ED2-9E23-5D66B8DB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LONG-TERM OPERATIONS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C6B89B76-926F-4FE0-A3CF-8E42BB64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057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30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最終監査で9つの重大境界条件を閉じた</a:t>
            </a:r>
          </a:p>
        </p:txBody>
      </p:sp>
      <p:cxnSp>
        <p:nvCxnSpPr>
          <p:cNvPr id="21" name="header-rule-9"/>
          <p:cNvCxnSpPr/>
          <p:nvPr/>
        </p:nvCxnSpPr>
        <p:spPr>
          <a:xfrm xmlns:a="http://schemas.openxmlformats.org/drawingml/2006/main">
            <a:off x="457200" y="1476375"/>
            <a:ext cx="1127760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318"/>
            </a:solidFill>
            <a:prstDash val="solid"/>
          </a:ln>
        </p:spPr>
      </p:cxnSp>
      <p:sp>
        <p:nvSpPr>
          <p:cNvPr id="4" name="audit-intro">
            <a:extLst xmlns:a="http://schemas.openxmlformats.org/drawingml/2006/main">
              <a:ext uri="{FF2B5EF4-FFF2-40B4-BE49-F238E27FC236}">
                <a16:creationId xmlns:a16="http://schemas.microsoft.com/office/drawing/2014/main" id="{5A637678-80DD-47B7-B6EF-D652DC78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000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42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正常系だけでなく、削除・競合・不明・明示的nullまで回帰テストに固定。</a:t>
            </a:r>
          </a:p>
        </p:txBody>
      </p:sp>
      <p:sp>
        <p:nvSpPr>
          <p:cNvPr id="5" name="audit-rail">
            <a:extLst xmlns:a="http://schemas.openxmlformats.org/drawingml/2006/main">
              <a:ext uri="{FF2B5EF4-FFF2-40B4-BE49-F238E27FC236}">
                <a16:creationId xmlns:a16="http://schemas.microsoft.com/office/drawing/2014/main" id="{D15B0ECB-7784-4A2F-BE9B-ADD5B632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762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udit-theme-1">
            <a:extLst xmlns:a="http://schemas.openxmlformats.org/drawingml/2006/main">
              <a:ext uri="{FF2B5EF4-FFF2-40B4-BE49-F238E27FC236}">
                <a16:creationId xmlns:a16="http://schemas.microsoft.com/office/drawing/2014/main" id="{9E306FF4-2477-4A6E-B00F-EE37B683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DATA</a:t>
            </a:r>
          </a:p>
        </p:txBody>
      </p:sp>
      <p:sp>
        <p:nvSpPr>
          <p:cNvPr id="7" name="audit-text-1">
            <a:extLst xmlns:a="http://schemas.openxmlformats.org/drawingml/2006/main">
              <a:ext uri="{FF2B5EF4-FFF2-40B4-BE49-F238E27FC236}">
                <a16:creationId xmlns:a16="http://schemas.microsoft.com/office/drawing/2014/main" id="{3BCC438B-857F-4AB6-A6EA-BE974E48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09800"/>
            <a:ext cx="8858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1  explicit nullをsnapshot / diff / rollbackで保持
2  kokuchiEventTime変更をkokuchiとvc_dmの両方へ伝播</a:t>
            </a:r>
          </a:p>
        </p:txBody>
      </p:sp>
      <p:cxnSp>
        <p:nvCxnSpPr>
          <p:cNvPr id="26" name="audit-r1"/>
          <p:cNvCxnSpPr/>
          <p:nvPr/>
        </p:nvCxnSpPr>
        <p:spPr>
          <a:xfrm xmlns:a="http://schemas.openxmlformats.org/drawingml/2006/main">
            <a:off x="762000" y="2933700"/>
            <a:ext cx="1021080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audit-theme-2">
            <a:extLst xmlns:a="http://schemas.openxmlformats.org/drawingml/2006/main">
              <a:ext uri="{FF2B5EF4-FFF2-40B4-BE49-F238E27FC236}">
                <a16:creationId xmlns:a16="http://schemas.microsoft.com/office/drawing/2014/main" id="{05086EE9-CADB-4064-8B95-8CA6BE8D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DRIFT</a:t>
            </a:r>
          </a:p>
        </p:txBody>
      </p:sp>
      <p:sp>
        <p:nvSpPr>
          <p:cNvPr id="10" name="audit-text-2">
            <a:extLst xmlns:a="http://schemas.openxmlformats.org/drawingml/2006/main">
              <a:ext uri="{FF2B5EF4-FFF2-40B4-BE49-F238E27FC236}">
                <a16:creationId xmlns:a16="http://schemas.microsoft.com/office/drawing/2014/main" id="{1B5B90FB-4AA1-4B56-86DC-6F4C641F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48000"/>
            <a:ext cx="885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3  status / profile / Oteboの保存channel driftを候補化し、postflightで厳密確認
4  status-boardのtarget・message同時欠落はunsafeとして自動修復しない</a:t>
            </a:r>
          </a:p>
        </p:txBody>
      </p:sp>
      <p:cxnSp>
        <p:nvCxnSpPr>
          <p:cNvPr id="29" name="audit-r2"/>
          <p:cNvCxnSpPr/>
          <p:nvPr/>
        </p:nvCxnSpPr>
        <p:spPr>
          <a:xfrm xmlns:a="http://schemas.openxmlformats.org/drawingml/2006/main">
            <a:off x="762000" y="3829050"/>
            <a:ext cx="1021080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audit-theme-3">
            <a:extLst xmlns:a="http://schemas.openxmlformats.org/drawingml/2006/main">
              <a:ext uri="{FF2B5EF4-FFF2-40B4-BE49-F238E27FC236}">
                <a16:creationId xmlns:a16="http://schemas.microsoft.com/office/drawing/2014/main" id="{2BEE94B4-10E6-47F9-8EE3-C77A1962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OUTCOME</a:t>
            </a:r>
          </a:p>
        </p:txBody>
      </p:sp>
      <p:sp>
        <p:nvSpPr>
          <p:cNvPr id="13" name="audit-text-3">
            <a:extLst xmlns:a="http://schemas.openxmlformats.org/drawingml/2006/main">
              <a:ext uri="{FF2B5EF4-FFF2-40B4-BE49-F238E27FC236}">
                <a16:creationId xmlns:a16="http://schemas.microsoft.com/office/drawing/2014/main" id="{75FB4AC5-FAA1-40C0-8B90-FBDD4363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43350"/>
            <a:ext cx="8858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5  VC DM / profile panelの削除失敗をapplied扱いしない
6  profileは再試行に必要な状態を保持</a:t>
            </a:r>
          </a:p>
        </p:txBody>
      </p:sp>
      <p:cxnSp>
        <p:nvCxnSpPr>
          <p:cNvPr id="32" name="audit-r3"/>
          <p:cNvCxnSpPr/>
          <p:nvPr/>
        </p:nvCxnSpPr>
        <p:spPr>
          <a:xfrm xmlns:a="http://schemas.openxmlformats.org/drawingml/2006/main">
            <a:off x="762000" y="4667250"/>
            <a:ext cx="1021080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audit-theme-4">
            <a:extLst xmlns:a="http://schemas.openxmlformats.org/drawingml/2006/main">
              <a:ext uri="{FF2B5EF4-FFF2-40B4-BE49-F238E27FC236}">
                <a16:creationId xmlns:a16="http://schemas.microsoft.com/office/drawing/2014/main" id="{410EC272-ADED-4154-B443-C3485C24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917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GUARD</a:t>
            </a:r>
          </a:p>
        </p:txBody>
      </p:sp>
      <p:sp>
        <p:nvSpPr>
          <p:cNvPr id="16" name="audit-text-4">
            <a:extLst xmlns:a="http://schemas.openxmlformats.org/drawingml/2006/main">
              <a:ext uri="{FF2B5EF4-FFF2-40B4-BE49-F238E27FC236}">
                <a16:creationId xmlns:a16="http://schemas.microsoft.com/office/drawing/2014/main" id="{CA1F2F79-C91D-4181-B3BA-CEBC567A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81550"/>
            <a:ext cx="8858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7  callwait通知だけManageMessagesを要求
8  /setup確定後にforce fetch再検証  /  9  DM無効・transaction非対応を明示</a:t>
            </a:r>
          </a:p>
        </p:txBody>
      </p:sp>
      <p:sp>
        <p:nvSpPr>
          <p:cNvPr id="17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76236FF7-1135-4042-B1A9-9EEB5C1D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IMPLEMENTATION REPORT</a:t>
            </a:r>
          </a:p>
        </p:txBody>
      </p:sp>
      <p:sp>
        <p:nvSpPr>
          <p:cNvPr id="18" name="footer-num-9">
            <a:extLst xmlns:a="http://schemas.openxmlformats.org/drawingml/2006/main">
              <a:ext uri="{FF2B5EF4-FFF2-40B4-BE49-F238E27FC236}">
                <a16:creationId xmlns:a16="http://schemas.microsoft.com/office/drawing/2014/main" id="{D14E3799-E913-4712-AA5C-9D8C39E3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372225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409237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-10">
            <a:extLst xmlns:a="http://schemas.openxmlformats.org/drawingml/2006/main">
              <a:ext uri="{FF2B5EF4-FFF2-40B4-BE49-F238E27FC236}">
                <a16:creationId xmlns:a16="http://schemas.microsoft.com/office/drawing/2014/main" id="{9BE1D2C2-2FFA-4CD0-AE65-9CFE7FEE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LONG-TERM OPERATIONS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51D2C400-7270-4D81-AB99-C366198B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057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30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実装と監査を分離し、372件の回帰テストで確認</a:t>
            </a:r>
          </a:p>
        </p:txBody>
      </p:sp>
      <p:cxnSp>
        <p:nvCxnSpPr>
          <p:cNvPr id="33" name="header-rule-10"/>
          <p:cNvCxnSpPr/>
          <p:nvPr/>
        </p:nvCxnSpPr>
        <p:spPr>
          <a:xfrm xmlns:a="http://schemas.openxmlformats.org/drawingml/2006/main">
            <a:off x="457200" y="1476375"/>
            <a:ext cx="1127760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318"/>
            </a:solidFill>
            <a:prstDash val="solid"/>
          </a:ln>
        </p:spPr>
      </p:cxnSp>
      <p:sp>
        <p:nvSpPr>
          <p:cNvPr id="4" name="metric-1">
            <a:extLst xmlns:a="http://schemas.openxmlformats.org/drawingml/2006/main">
              <a:ext uri="{FF2B5EF4-FFF2-40B4-BE49-F238E27FC236}">
                <a16:creationId xmlns:a16="http://schemas.microsoft.com/office/drawing/2014/main" id="{C6231166-5EF1-4627-9C3B-6AAFA9A9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3528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1-num">
            <a:extLst xmlns:a="http://schemas.openxmlformats.org/drawingml/2006/main">
              <a:ext uri="{FF2B5EF4-FFF2-40B4-BE49-F238E27FC236}">
                <a16:creationId xmlns:a16="http://schemas.microsoft.com/office/drawing/2014/main" id="{D3561F5E-EB1D-421C-B2F9-357F26E0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8003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800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4800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372</a:t>
            </a:r>
          </a:p>
        </p:txBody>
      </p:sp>
      <p:sp>
        <p:nvSpPr>
          <p:cNvPr id="6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55DC8D3F-ECB7-4FBF-A772-2E14306F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800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FULL SUITE</a:t>
            </a:r>
          </a:p>
        </p:txBody>
      </p:sp>
      <p:sp>
        <p:nvSpPr>
          <p:cNvPr id="7" name="metric-1-body">
            <a:extLst xmlns:a="http://schemas.openxmlformats.org/drawingml/2006/main">
              <a:ext uri="{FF2B5EF4-FFF2-40B4-BE49-F238E27FC236}">
                <a16:creationId xmlns:a16="http://schemas.microsoft.com/office/drawing/2014/main" id="{CD3622AD-0814-429D-9AB0-FDCC0BA9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247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575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全テスト合格</a:t>
            </a:r>
          </a:p>
        </p:txBody>
      </p:sp>
      <p:sp>
        <p:nvSpPr>
          <p:cNvPr id="8" name="metric-2">
            <a:extLst xmlns:a="http://schemas.openxmlformats.org/drawingml/2006/main">
              <a:ext uri="{FF2B5EF4-FFF2-40B4-BE49-F238E27FC236}">
                <a16:creationId xmlns:a16="http://schemas.microsoft.com/office/drawing/2014/main" id="{4995E49A-515B-4025-8E24-CE0EA750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09750"/>
            <a:ext cx="33528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2-num">
            <a:extLst xmlns:a="http://schemas.openxmlformats.org/drawingml/2006/main">
              <a:ext uri="{FF2B5EF4-FFF2-40B4-BE49-F238E27FC236}">
                <a16:creationId xmlns:a16="http://schemas.microsoft.com/office/drawing/2014/main" id="{4FAC84FF-AAF7-413A-96B6-F956D29F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33600"/>
            <a:ext cx="28003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8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48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173</a:t>
            </a:r>
          </a:p>
        </p:txBody>
      </p:sp>
      <p:sp>
        <p:nvSpPr>
          <p:cNvPr id="10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62996047-7241-4FBC-9E73-DB593619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2800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RELATED TESTS</a:t>
            </a:r>
          </a:p>
        </p:txBody>
      </p:sp>
      <p:sp>
        <p:nvSpPr>
          <p:cNvPr id="11" name="metric-2-body">
            <a:extLst xmlns:a="http://schemas.openxmlformats.org/drawingml/2006/main">
              <a:ext uri="{FF2B5EF4-FFF2-40B4-BE49-F238E27FC236}">
                <a16:creationId xmlns:a16="http://schemas.microsoft.com/office/drawing/2014/main" id="{5FA8E9E8-478E-4EF3-982D-9B42ECA3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29000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575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今回の関連テスト合格</a:t>
            </a:r>
          </a:p>
        </p:txBody>
      </p:sp>
      <p:sp>
        <p:nvSpPr>
          <p:cNvPr id="12" name="metric-3">
            <a:extLst xmlns:a="http://schemas.openxmlformats.org/drawingml/2006/main">
              <a:ext uri="{FF2B5EF4-FFF2-40B4-BE49-F238E27FC236}">
                <a16:creationId xmlns:a16="http://schemas.microsoft.com/office/drawing/2014/main" id="{B4D0830A-329B-4208-8EF4-4442E425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09750"/>
            <a:ext cx="34671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3-num">
            <a:extLst xmlns:a="http://schemas.openxmlformats.org/drawingml/2006/main">
              <a:ext uri="{FF2B5EF4-FFF2-40B4-BE49-F238E27FC236}">
                <a16:creationId xmlns:a16="http://schemas.microsoft.com/office/drawing/2014/main" id="{4E86F420-B223-4A0B-8196-41BD7C4D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28850"/>
            <a:ext cx="2933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750">
                <a:solidFill>
                  <a:srgbClr val="2DA44E"/>
                </a:solidFill>
                <a:latin typeface="Yu Gothic"/>
                <a:ea typeface="Yu Gothic"/>
                <a:cs typeface="Yu Gothic"/>
              </a:defRPr>
            </a:pPr>
            <a:r>
              <a:rPr sz="3750" b="1" i="0">
                <a:solidFill>
                  <a:srgbClr val="2DA44E"/>
                </a:solidFill>
                <a:latin typeface="Yu Gothic"/>
                <a:ea typeface="Yu Gothic"/>
                <a:cs typeface="Yu Gothic"/>
              </a:rPr>
              <a:t>PASS</a:t>
            </a:r>
          </a:p>
        </p:txBody>
      </p:sp>
      <p:sp>
        <p:nvSpPr>
          <p:cNvPr id="14" name="metric-3-label">
            <a:extLst xmlns:a="http://schemas.openxmlformats.org/drawingml/2006/main">
              <a:ext uri="{FF2B5EF4-FFF2-40B4-BE49-F238E27FC236}">
                <a16:creationId xmlns:a16="http://schemas.microsoft.com/office/drawing/2014/main" id="{57208138-87A5-4048-A46F-97882BAB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2800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STATIC CHECKS</a:t>
            </a:r>
          </a:p>
        </p:txBody>
      </p:sp>
      <p:sp>
        <p:nvSpPr>
          <p:cNvPr id="15" name="metric-3-body">
            <a:extLst xmlns:a="http://schemas.openxmlformats.org/drawingml/2006/main">
              <a:ext uri="{FF2B5EF4-FFF2-40B4-BE49-F238E27FC236}">
                <a16:creationId xmlns:a16="http://schemas.microsoft.com/office/drawing/2014/main" id="{64C8A479-359D-41DA-B755-02E98D30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29000"/>
            <a:ext cx="266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575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lint / diff --check</a:t>
            </a:r>
          </a:p>
        </p:txBody>
      </p:sp>
      <p:cxnSp>
        <p:nvCxnSpPr>
          <p:cNvPr id="46" name="verify-loop"/>
          <p:cNvCxnSpPr/>
          <p:nvPr/>
        </p:nvCxnSpPr>
        <p:spPr>
          <a:xfrm xmlns:a="http://schemas.openxmlformats.org/drawingml/2006/main">
            <a:off x="866775" y="4953000"/>
            <a:ext cx="10115550" cy="19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318"/>
            </a:solidFill>
            <a:prstDash val="solid"/>
          </a:ln>
        </p:spPr>
      </p:cxnSp>
      <p:sp>
        <p:nvSpPr>
          <p:cNvPr id="17" name="verify-dot-0">
            <a:extLst xmlns:a="http://schemas.openxmlformats.org/drawingml/2006/main">
              <a:ext uri="{FF2B5EF4-FFF2-40B4-BE49-F238E27FC236}">
                <a16:creationId xmlns:a16="http://schemas.microsoft.com/office/drawing/2014/main" id="{66B041D3-D056-426B-B452-58BD7980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67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verify-title-0">
            <a:extLst xmlns:a="http://schemas.openxmlformats.org/drawingml/2006/main">
              <a:ext uri="{FF2B5EF4-FFF2-40B4-BE49-F238E27FC236}">
                <a16:creationId xmlns:a16="http://schemas.microsoft.com/office/drawing/2014/main" id="{375738A6-9FBA-44EB-9057-1BB7BA1A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5.6-luna max</a:t>
            </a:r>
          </a:p>
        </p:txBody>
      </p:sp>
      <p:sp>
        <p:nvSpPr>
          <p:cNvPr id="19" name="verify-body-0">
            <a:extLst xmlns:a="http://schemas.openxmlformats.org/drawingml/2006/main">
              <a:ext uri="{FF2B5EF4-FFF2-40B4-BE49-F238E27FC236}">
                <a16:creationId xmlns:a16="http://schemas.microsoft.com/office/drawing/2014/main" id="{45DC370B-256C-49DF-B422-5FFCF43E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8160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実装・修正</a:t>
            </a:r>
          </a:p>
        </p:txBody>
      </p:sp>
      <p:sp>
        <p:nvSpPr>
          <p:cNvPr id="20" name="verify-dot-1">
            <a:extLst xmlns:a="http://schemas.openxmlformats.org/drawingml/2006/main">
              <a:ext uri="{FF2B5EF4-FFF2-40B4-BE49-F238E27FC236}">
                <a16:creationId xmlns:a16="http://schemas.microsoft.com/office/drawing/2014/main" id="{A5D6698E-B39C-41E8-9745-02C4EACF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67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verify-title-1">
            <a:extLst xmlns:a="http://schemas.openxmlformats.org/drawingml/2006/main">
              <a:ext uri="{FF2B5EF4-FFF2-40B4-BE49-F238E27FC236}">
                <a16:creationId xmlns:a16="http://schemas.microsoft.com/office/drawing/2014/main" id="{870AAFB0-FB95-4D8B-8189-D2DC6596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6245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Primary audit</a:t>
            </a:r>
          </a:p>
        </p:txBody>
      </p:sp>
      <p:sp>
        <p:nvSpPr>
          <p:cNvPr id="22" name="verify-body-1">
            <a:extLst xmlns:a="http://schemas.openxmlformats.org/drawingml/2006/main">
              <a:ext uri="{FF2B5EF4-FFF2-40B4-BE49-F238E27FC236}">
                <a16:creationId xmlns:a16="http://schemas.microsoft.com/office/drawing/2014/main" id="{64D135F4-8DE1-4AF0-B26E-586939D3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8160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独立レビュー</a:t>
            </a:r>
          </a:p>
        </p:txBody>
      </p:sp>
      <p:sp>
        <p:nvSpPr>
          <p:cNvPr id="23" name="verify-dot-2">
            <a:extLst xmlns:a="http://schemas.openxmlformats.org/drawingml/2006/main">
              <a:ext uri="{FF2B5EF4-FFF2-40B4-BE49-F238E27FC236}">
                <a16:creationId xmlns:a16="http://schemas.microsoft.com/office/drawing/2014/main" id="{FCB17315-17FD-44CD-A9DB-813BD8E9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67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verify-title-2">
            <a:extLst xmlns:a="http://schemas.openxmlformats.org/drawingml/2006/main">
              <a:ext uri="{FF2B5EF4-FFF2-40B4-BE49-F238E27FC236}">
                <a16:creationId xmlns:a16="http://schemas.microsoft.com/office/drawing/2014/main" id="{9D255B0A-322D-49AE-8768-B3EAB53A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6245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Reproduce</a:t>
            </a:r>
          </a:p>
        </p:txBody>
      </p:sp>
      <p:sp>
        <p:nvSpPr>
          <p:cNvPr id="25" name="verify-body-2">
            <a:extLst xmlns:a="http://schemas.openxmlformats.org/drawingml/2006/main">
              <a:ext uri="{FF2B5EF4-FFF2-40B4-BE49-F238E27FC236}">
                <a16:creationId xmlns:a16="http://schemas.microsoft.com/office/drawing/2014/main" id="{A9E9DE5A-1A0B-4D13-81E4-188B37F3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18160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欠陥を再現</a:t>
            </a:r>
          </a:p>
        </p:txBody>
      </p:sp>
      <p:sp>
        <p:nvSpPr>
          <p:cNvPr id="26" name="verify-dot-3">
            <a:extLst xmlns:a="http://schemas.openxmlformats.org/drawingml/2006/main">
              <a:ext uri="{FF2B5EF4-FFF2-40B4-BE49-F238E27FC236}">
                <a16:creationId xmlns:a16="http://schemas.microsoft.com/office/drawing/2014/main" id="{13F3C2CD-ACB3-403D-B18D-72A767F7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67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A4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verify-title-3">
            <a:extLst xmlns:a="http://schemas.openxmlformats.org/drawingml/2006/main">
              <a:ext uri="{FF2B5EF4-FFF2-40B4-BE49-F238E27FC236}">
                <a16:creationId xmlns:a16="http://schemas.microsoft.com/office/drawing/2014/main" id="{E485D51F-5B14-4CD1-A438-A898BF32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6245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Re-run</a:t>
            </a:r>
          </a:p>
        </p:txBody>
      </p:sp>
      <p:sp>
        <p:nvSpPr>
          <p:cNvPr id="28" name="verify-body-3">
            <a:extLst xmlns:a="http://schemas.openxmlformats.org/drawingml/2006/main">
              <a:ext uri="{FF2B5EF4-FFF2-40B4-BE49-F238E27FC236}">
                <a16:creationId xmlns:a16="http://schemas.microsoft.com/office/drawing/2014/main" id="{73B7CEF8-65BD-4BBD-AD9F-2300A9E6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8160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全suiteで固定</a:t>
            </a:r>
          </a:p>
        </p:txBody>
      </p:sp>
      <p:sp>
        <p:nvSpPr>
          <p:cNvPr id="29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9652BB06-3234-4BB0-9498-7F56ED86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IMPLEMENTATION REPORT</a:t>
            </a:r>
          </a:p>
        </p:txBody>
      </p:sp>
      <p:sp>
        <p:nvSpPr>
          <p:cNvPr id="30" name="footer-num-10">
            <a:extLst xmlns:a="http://schemas.openxmlformats.org/drawingml/2006/main">
              <a:ext uri="{FF2B5EF4-FFF2-40B4-BE49-F238E27FC236}">
                <a16:creationId xmlns:a16="http://schemas.microsoft.com/office/drawing/2014/main" id="{E1C8DB14-3934-40CF-95F5-9D6C28C7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372225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384886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1">
            <a:extLst xmlns:a="http://schemas.openxmlformats.org/drawingml/2006/main">
              <a:ext uri="{FF2B5EF4-FFF2-40B4-BE49-F238E27FC236}">
                <a16:creationId xmlns:a16="http://schemas.microsoft.com/office/drawing/2014/main" id="{35C0AE63-17CC-4A72-A22C-4A07248D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38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LONG-TERM OPERATIONS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DD01E657-94E9-431C-BB74-5D2C9936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057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30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コードレベルのリリースゲートは通過した</a:t>
            </a:r>
          </a:p>
        </p:txBody>
      </p:sp>
      <p:cxnSp>
        <p:nvCxnSpPr>
          <p:cNvPr id="28" name="header-rule-11"/>
          <p:cNvCxnSpPr/>
          <p:nvPr/>
        </p:nvCxnSpPr>
        <p:spPr>
          <a:xfrm xmlns:a="http://schemas.openxmlformats.org/drawingml/2006/main">
            <a:off x="457200" y="1476375"/>
            <a:ext cx="11277600" cy="190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318"/>
            </a:solidFill>
            <a:prstDash val="solid"/>
          </a:ln>
        </p:spPr>
      </p:cxnSp>
      <p:sp>
        <p:nvSpPr>
          <p:cNvPr id="4" name="handoff-pass-bg">
            <a:extLst xmlns:a="http://schemas.openxmlformats.org/drawingml/2006/main">
              <a:ext uri="{FF2B5EF4-FFF2-40B4-BE49-F238E27FC236}">
                <a16:creationId xmlns:a16="http://schemas.microsoft.com/office/drawing/2014/main" id="{936751CC-3DFE-4023-AA07-E1E65C08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0782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andoff-pass">
            <a:extLst xmlns:a="http://schemas.openxmlformats.org/drawingml/2006/main">
              <a:ext uri="{FF2B5EF4-FFF2-40B4-BE49-F238E27FC236}">
                <a16:creationId xmlns:a16="http://schemas.microsoft.com/office/drawing/2014/main" id="{8BA6EF52-5C5B-4E84-AB02-4BABD01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7810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75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475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CODE-LEVEL GATE  /  PASSED</a:t>
            </a:r>
          </a:p>
        </p:txBody>
      </p:sp>
      <p:sp>
        <p:nvSpPr>
          <p:cNvPr id="6" name="handoff-pass-sub">
            <a:extLst xmlns:a="http://schemas.openxmlformats.org/drawingml/2006/main">
              <a:ext uri="{FF2B5EF4-FFF2-40B4-BE49-F238E27FC236}">
                <a16:creationId xmlns:a16="http://schemas.microsoft.com/office/drawing/2014/main" id="{CCA59AC6-A081-4CF3-9591-B8AFE96B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2590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125">
                <a:solidFill>
                  <a:srgbClr val="E1E4FF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E1E4FF"/>
                </a:solidFill>
                <a:latin typeface="Yu Gothic"/>
                <a:ea typeface="Yu Gothic"/>
                <a:cs typeface="Yu Gothic"/>
              </a:rPr>
              <a:t>重大な未解決欠陥は、最終レビューでは検出されていない。</a:t>
            </a:r>
          </a:p>
        </p:txBody>
      </p:sp>
      <p:sp>
        <p:nvSpPr>
          <p:cNvPr id="7" name="handoff-next-title">
            <a:extLst xmlns:a="http://schemas.openxmlformats.org/drawingml/2006/main">
              <a:ext uri="{FF2B5EF4-FFF2-40B4-BE49-F238E27FC236}">
                <a16:creationId xmlns:a16="http://schemas.microsoft.com/office/drawing/2014/main" id="{2CEE2DB7-C661-42ED-B048-14CB8790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21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次の一手：staging smoke</a:t>
            </a:r>
          </a:p>
        </p:txBody>
      </p:sp>
      <p:sp>
        <p:nvSpPr>
          <p:cNvPr id="8" name="handoff-next-sub">
            <a:extLst xmlns:a="http://schemas.openxmlformats.org/drawingml/2006/main">
              <a:ext uri="{FF2B5EF4-FFF2-40B4-BE49-F238E27FC236}">
                <a16:creationId xmlns:a16="http://schemas.microsoft.com/office/drawing/2014/main" id="{190FDAA8-E95B-40CF-A420-74F96B2A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52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27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実Discord + replica set MongoDBで以下を確認</a:t>
            </a:r>
          </a:p>
        </p:txBody>
      </p:sp>
      <p:sp>
        <p:nvSpPr>
          <p:cNvPr id="9" name="handoff-check-0">
            <a:extLst xmlns:a="http://schemas.openxmlformats.org/drawingml/2006/main">
              <a:ext uri="{FF2B5EF4-FFF2-40B4-BE49-F238E27FC236}">
                <a16:creationId xmlns:a16="http://schemas.microsoft.com/office/drawing/2014/main" id="{BD8A6F6D-9BC1-4CB2-A8E3-A2B3B3DB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10" name="handoff-item-0">
            <a:extLst xmlns:a="http://schemas.openxmlformats.org/drawingml/2006/main">
              <a:ext uri="{FF2B5EF4-FFF2-40B4-BE49-F238E27FC236}">
                <a16:creationId xmlns:a16="http://schemas.microsoft.com/office/drawing/2014/main" id="{6C9392E2-330A-4B62-86B3-E4DB8D9E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533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/checkbotの登録・ManageGuild・DM非表示</a:t>
            </a:r>
          </a:p>
        </p:txBody>
      </p:sp>
      <p:sp>
        <p:nvSpPr>
          <p:cNvPr id="11" name="handoff-check-1">
            <a:extLst xmlns:a="http://schemas.openxmlformats.org/drawingml/2006/main">
              <a:ext uri="{FF2B5EF4-FFF2-40B4-BE49-F238E27FC236}">
                <a16:creationId xmlns:a16="http://schemas.microsoft.com/office/drawing/2014/main" id="{F525B617-FA4E-4183-8FC9-1C685A9E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148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12" name="handoff-item-1">
            <a:extLst xmlns:a="http://schemas.openxmlformats.org/drawingml/2006/main">
              <a:ext uri="{FF2B5EF4-FFF2-40B4-BE49-F238E27FC236}">
                <a16:creationId xmlns:a16="http://schemas.microsoft.com/office/drawing/2014/main" id="{B760C1FA-2082-4CFD-8098-AA900DE2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533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275" b="0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30分観測、candidate作成、allowlist repair</a:t>
            </a:r>
          </a:p>
        </p:txBody>
      </p:sp>
      <p:sp>
        <p:nvSpPr>
          <p:cNvPr id="13" name="handoff-check-2">
            <a:extLst xmlns:a="http://schemas.openxmlformats.org/drawingml/2006/main">
              <a:ext uri="{FF2B5EF4-FFF2-40B4-BE49-F238E27FC236}">
                <a16:creationId xmlns:a16="http://schemas.microsoft.com/office/drawing/2014/main" id="{24A16E8A-F971-4D8A-8848-50F4484F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86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14" name="handoff-item-2">
            <a:extLst xmlns:a="http://schemas.openxmlformats.org/drawingml/2006/main">
              <a:ext uri="{FF2B5EF4-FFF2-40B4-BE49-F238E27FC236}">
                <a16:creationId xmlns:a16="http://schemas.microsoft.com/office/drawing/2014/main" id="{58749B0E-F4EF-4FCE-911C-8BEC7CCF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9625"/>
            <a:ext cx="533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275" b="0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意図的な権限不足とAPI unknown時のBLOCK</a:t>
            </a:r>
          </a:p>
        </p:txBody>
      </p:sp>
      <p:sp>
        <p:nvSpPr>
          <p:cNvPr id="15" name="handoff-check-3">
            <a:extLst xmlns:a="http://schemas.openxmlformats.org/drawingml/2006/main">
              <a:ext uri="{FF2B5EF4-FFF2-40B4-BE49-F238E27FC236}">
                <a16:creationId xmlns:a16="http://schemas.microsoft.com/office/drawing/2014/main" id="{FD924012-541F-436C-B070-D8834BAA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16" name="handoff-item-3">
            <a:extLst xmlns:a="http://schemas.openxmlformats.org/drawingml/2006/main">
              <a:ext uri="{FF2B5EF4-FFF2-40B4-BE49-F238E27FC236}">
                <a16:creationId xmlns:a16="http://schemas.microsoft.com/office/drawing/2014/main" id="{83387D49-1977-4638-B3AF-EFF727D5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533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275" b="0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/setup確定直前の削除・型変更検出</a:t>
            </a:r>
          </a:p>
        </p:txBody>
      </p:sp>
      <p:sp>
        <p:nvSpPr>
          <p:cNvPr id="17" name="handoff-check-4">
            <a:extLst xmlns:a="http://schemas.openxmlformats.org/drawingml/2006/main">
              <a:ext uri="{FF2B5EF4-FFF2-40B4-BE49-F238E27FC236}">
                <a16:creationId xmlns:a16="http://schemas.microsoft.com/office/drawing/2014/main" id="{DDBA0540-7B6E-47BC-8484-6CF5D3C4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18" name="handoff-item-4">
            <a:extLst xmlns:a="http://schemas.openxmlformats.org/drawingml/2006/main">
              <a:ext uri="{FF2B5EF4-FFF2-40B4-BE49-F238E27FC236}">
                <a16:creationId xmlns:a16="http://schemas.microsoft.com/office/drawing/2014/main" id="{B573F486-F30A-44EC-89B3-CFB14209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62575"/>
            <a:ext cx="533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1275" b="0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/config rollback・apply_status・retry</a:t>
            </a:r>
          </a:p>
        </p:txBody>
      </p:sp>
      <p:cxnSp>
        <p:nvCxnSpPr>
          <p:cNvPr id="44" name="handoff-divider"/>
          <p:cNvCxnSpPr/>
          <p:nvPr/>
        </p:nvCxnSpPr>
        <p:spPr>
          <a:xfrm xmlns:a="http://schemas.openxmlformats.org/drawingml/2006/main">
            <a:off x="6572250" y="3067050"/>
            <a:ext cx="1905" cy="25336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handoff-limit-label">
            <a:extLst xmlns:a="http://schemas.openxmlformats.org/drawingml/2006/main">
              <a:ext uri="{FF2B5EF4-FFF2-40B4-BE49-F238E27FC236}">
                <a16:creationId xmlns:a16="http://schemas.microsoft.com/office/drawing/2014/main" id="{C1ED4A57-E59A-4C19-ADF5-EEE8C616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05150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>
                <a:solidFill>
                  <a:srgbClr val="D1242F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D1242F"/>
                </a:solidFill>
                <a:latin typeface="Yu Gothic"/>
                <a:ea typeface="Yu Gothic"/>
                <a:cs typeface="Yu Gothic"/>
              </a:rPr>
              <a:t>RESIDUAL LIMITATION</a:t>
            </a:r>
          </a:p>
        </p:txBody>
      </p:sp>
      <p:sp>
        <p:nvSpPr>
          <p:cNvPr id="21" name="handoff-limit">
            <a:extLst xmlns:a="http://schemas.openxmlformats.org/drawingml/2006/main">
              <a:ext uri="{FF2B5EF4-FFF2-40B4-BE49-F238E27FC236}">
                <a16:creationId xmlns:a16="http://schemas.microsoft.com/office/drawing/2014/main" id="{1AD3CE66-C1E9-413D-BA27-CE7B8B84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86150"/>
            <a:ext cx="3905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7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rPr sz="2100" b="1" i="0">
                <a:solidFill>
                  <a:srgbClr val="111318"/>
                </a:solidFill>
                <a:latin typeface="Yu Gothic"/>
                <a:ea typeface="Yu Gothic"/>
                <a:cs typeface="Yu Gothic"/>
              </a:rPr>
              <a:t>実Discord / MongoDB stagingでの
統合スモークは未実施</a:t>
            </a:r>
          </a:p>
        </p:txBody>
      </p:sp>
      <p:sp>
        <p:nvSpPr>
          <p:cNvPr id="22" name="handoff-limit-body">
            <a:extLst xmlns:a="http://schemas.openxmlformats.org/drawingml/2006/main">
              <a:ext uri="{FF2B5EF4-FFF2-40B4-BE49-F238E27FC236}">
                <a16:creationId xmlns:a16="http://schemas.microsoft.com/office/drawing/2014/main" id="{2A1C4A4C-A066-4CE5-B216-BAC33D69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38650"/>
            <a:ext cx="39052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1350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コード・単体/回帰テスト・静的検査は完了。
本番投入前に外部境界だけを実環境で確認する。</a:t>
            </a:r>
          </a:p>
        </p:txBody>
      </p:sp>
      <p:sp>
        <p:nvSpPr>
          <p:cNvPr id="23" name="handoff-decision">
            <a:extLst xmlns:a="http://schemas.openxmlformats.org/drawingml/2006/main">
              <a:ext uri="{FF2B5EF4-FFF2-40B4-BE49-F238E27FC236}">
                <a16:creationId xmlns:a16="http://schemas.microsoft.com/office/drawing/2014/main" id="{803DBC9D-FD4D-48E6-A01D-937CF763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91150"/>
            <a:ext cx="390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>
                <a:solidFill>
                  <a:srgbClr val="5865F2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5865F2"/>
                </a:solidFill>
                <a:latin typeface="Yu Gothic"/>
                <a:ea typeface="Yu Gothic"/>
                <a:cs typeface="Yu Gothic"/>
              </a:rPr>
              <a:t>READY FOR STAGING</a:t>
            </a:r>
          </a:p>
        </p:txBody>
      </p:sp>
      <p:sp>
        <p:nvSpPr>
          <p:cNvPr id="24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FA18250F-7357-4076-ACEC-3B36C2DC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IMPLEMENTATION REPORT</a:t>
            </a:r>
          </a:p>
        </p:txBody>
      </p:sp>
      <p:sp>
        <p:nvSpPr>
          <p:cNvPr id="25" name="footer-num-11">
            <a:extLst xmlns:a="http://schemas.openxmlformats.org/drawingml/2006/main">
              <a:ext uri="{FF2B5EF4-FFF2-40B4-BE49-F238E27FC236}">
                <a16:creationId xmlns:a16="http://schemas.microsoft.com/office/drawing/2014/main" id="{1E928466-5E68-4972-8EF6-BEC338D0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372225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>
                <a:solidFill>
                  <a:srgbClr val="60646C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60646C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14438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2026-08-22T11:56:53.6730000Z</dcterms:created>
  <dcterms:modified xsi:type="dcterms:W3CDTF">2026-08-22T11:56:53.6730000Z</dcterms:modified>
</coreProperties>
</file>